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embedTrueTypeFonts="1" saveSubsetFonts="1">
  <p:sldMasterIdLst>
    <p:sldMasterId id="2147483648" r:id="rId1"/>
  </p:sldMasterIdLst>
  <p:notesMasterIdLst>
    <p:notesMasterId r:id="rId2"/>
  </p:notesMasterIdLst>
  <p:sldIdLst>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y="10287000" cx="18288000"/>
  <p:notesSz cx="6858000" cy="9144000"/>
  <p:embeddedFontLst>
    <p:embeddedFont>
      <p:font typeface="Merriweather Sans" panose="00000500000000000000" charset="1"/>
      <p:regular r:id="rId20"/>
    </p:embeddedFont>
    <p:embeddedFont>
      <p:font typeface="Merriweather Sans Bold Italics" panose="00000800000000000000" charset="1"/>
      <p:regular r:id="rId21"/>
    </p:embeddedFont>
    <p:embeddedFont>
      <p:font typeface="Canva Sans" panose="020B0503030501040103" charset="1"/>
      <p:regular r:id="rId22"/>
    </p:embeddedFont>
    <p:embeddedFont>
      <p:font typeface="Canva Sans Bold" panose="020B0803030501040103" charset="1"/>
      <p:regular r:id="rId23"/>
    </p:embeddedFont>
    <p:embeddedFont>
      <p:font typeface="Monda" panose="02000503000000000000" charset="1"/>
      <p:regular r:id="rId24"/>
    </p:embeddedFont>
  </p:embeddedFontLst>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 Id="rId25" Type="http://schemas.openxmlformats.org/officeDocument/2006/relationships/tableStyles" Target="tableStyle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9" name=""/>
        <p:cNvGrpSpPr/>
        <p:nvPr/>
      </p:nvGrpSpPr>
      <p:grpSpPr>
        <a:xfrm>
          <a:off x="0" y="0"/>
          <a:ext cx="0" cy="0"/>
          <a:chOff x="0" y="0"/>
          <a:chExt cx="0" cy="0"/>
        </a:xfrm>
      </p:grpSpPr>
      <p:sp>
        <p:nvSpPr>
          <p:cNvPr id="1048768"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69"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70"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71"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72"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73"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49" name=""/>
        <p:cNvGrpSpPr/>
        <p:nvPr/>
      </p:nvGrpSpPr>
      <p:grpSpPr>
        <a:xfrm>
          <a:off x="0" y="0"/>
          <a:ext cx="0" cy="0"/>
          <a:chOff x="0" y="0"/>
          <a:chExt cx="0" cy="0"/>
        </a:xfrm>
      </p:grpSpPr>
      <p:sp>
        <p:nvSpPr>
          <p:cNvPr id="1048713"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714"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715"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16" name="Footer Placeholder 4"/>
          <p:cNvSpPr>
            <a:spLocks noGrp="1"/>
          </p:cNvSpPr>
          <p:nvPr>
            <p:ph type="ftr" sz="quarter" idx="11"/>
          </p:nvPr>
        </p:nvSpPr>
        <p:spPr/>
        <p:txBody>
          <a:bodyPr/>
          <a:p>
            <a:endParaRPr lang="en-US"/>
          </a:p>
        </p:txBody>
      </p:sp>
      <p:sp>
        <p:nvSpPr>
          <p:cNvPr id="1048717"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2" name=""/>
        <p:cNvGrpSpPr/>
        <p:nvPr/>
      </p:nvGrpSpPr>
      <p:grpSpPr>
        <a:xfrm>
          <a:off x="0" y="0"/>
          <a:ext cx="0" cy="0"/>
          <a:chOff x="0" y="0"/>
          <a:chExt cx="0" cy="0"/>
        </a:xfrm>
      </p:grpSpPr>
      <p:sp>
        <p:nvSpPr>
          <p:cNvPr id="1048727" name="Title 1"/>
          <p:cNvSpPr>
            <a:spLocks noGrp="1"/>
          </p:cNvSpPr>
          <p:nvPr>
            <p:ph type="title"/>
          </p:nvPr>
        </p:nvSpPr>
        <p:spPr/>
        <p:txBody>
          <a:bodyPr/>
          <a:p>
            <a:r>
              <a:rPr lang="en-US" smtClean="0"/>
              <a:t>Click to edit Master title style</a:t>
            </a:r>
            <a:endParaRPr lang="en-US"/>
          </a:p>
        </p:txBody>
      </p:sp>
      <p:sp>
        <p:nvSpPr>
          <p:cNvPr id="1048728"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9"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30" name="Footer Placeholder 4"/>
          <p:cNvSpPr>
            <a:spLocks noGrp="1"/>
          </p:cNvSpPr>
          <p:nvPr>
            <p:ph type="ftr" sz="quarter" idx="11"/>
          </p:nvPr>
        </p:nvSpPr>
        <p:spPr/>
        <p:txBody>
          <a:bodyPr/>
          <a:p>
            <a:endParaRPr lang="en-US"/>
          </a:p>
        </p:txBody>
      </p:sp>
      <p:sp>
        <p:nvSpPr>
          <p:cNvPr id="1048731"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5" name=""/>
        <p:cNvGrpSpPr/>
        <p:nvPr/>
      </p:nvGrpSpPr>
      <p:grpSpPr>
        <a:xfrm>
          <a:off x="0" y="0"/>
          <a:ext cx="0" cy="0"/>
          <a:chOff x="0" y="0"/>
          <a:chExt cx="0" cy="0"/>
        </a:xfrm>
      </p:grpSpPr>
      <p:sp>
        <p:nvSpPr>
          <p:cNvPr id="1048743"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744"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45"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46" name="Footer Placeholder 4"/>
          <p:cNvSpPr>
            <a:spLocks noGrp="1"/>
          </p:cNvSpPr>
          <p:nvPr>
            <p:ph type="ftr" sz="quarter" idx="11"/>
          </p:nvPr>
        </p:nvSpPr>
        <p:spPr/>
        <p:txBody>
          <a:bodyPr/>
          <a:p>
            <a:endParaRPr lang="en-US"/>
          </a:p>
        </p:txBody>
      </p:sp>
      <p:sp>
        <p:nvSpPr>
          <p:cNvPr id="1048747"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6" name=""/>
        <p:cNvGrpSpPr/>
        <p:nvPr/>
      </p:nvGrpSpPr>
      <p:grpSpPr>
        <a:xfrm>
          <a:off x="0" y="0"/>
          <a:ext cx="0" cy="0"/>
          <a:chOff x="0" y="0"/>
          <a:chExt cx="0" cy="0"/>
        </a:xfrm>
      </p:grpSpPr>
      <p:sp>
        <p:nvSpPr>
          <p:cNvPr id="1048748" name="Title 1"/>
          <p:cNvSpPr>
            <a:spLocks noGrp="1"/>
          </p:cNvSpPr>
          <p:nvPr>
            <p:ph type="title"/>
          </p:nvPr>
        </p:nvSpPr>
        <p:spPr/>
        <p:txBody>
          <a:bodyPr/>
          <a:p>
            <a:r>
              <a:rPr lang="en-US" smtClean="0"/>
              <a:t>Click to edit Master title style</a:t>
            </a:r>
            <a:endParaRPr lang="en-US"/>
          </a:p>
        </p:txBody>
      </p:sp>
      <p:sp>
        <p:nvSpPr>
          <p:cNvPr id="1048749"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5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51"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52" name="Footer Placeholder 5"/>
          <p:cNvSpPr>
            <a:spLocks noGrp="1"/>
          </p:cNvSpPr>
          <p:nvPr>
            <p:ph type="ftr" sz="quarter" idx="11"/>
          </p:nvPr>
        </p:nvSpPr>
        <p:spPr/>
        <p:txBody>
          <a:bodyPr/>
          <a:p>
            <a:endParaRPr lang="en-US"/>
          </a:p>
        </p:txBody>
      </p:sp>
      <p:sp>
        <p:nvSpPr>
          <p:cNvPr id="1048753"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7" name=""/>
        <p:cNvGrpSpPr/>
        <p:nvPr/>
      </p:nvGrpSpPr>
      <p:grpSpPr>
        <a:xfrm>
          <a:off x="0" y="0"/>
          <a:ext cx="0" cy="0"/>
          <a:chOff x="0" y="0"/>
          <a:chExt cx="0" cy="0"/>
        </a:xfrm>
      </p:grpSpPr>
      <p:sp>
        <p:nvSpPr>
          <p:cNvPr id="1048754" name="Title 1"/>
          <p:cNvSpPr>
            <a:spLocks noGrp="1"/>
          </p:cNvSpPr>
          <p:nvPr>
            <p:ph type="title"/>
          </p:nvPr>
        </p:nvSpPr>
        <p:spPr/>
        <p:txBody>
          <a:bodyPr/>
          <a:p>
            <a:r>
              <a:rPr lang="en-US" smtClean="0"/>
              <a:t>Click to edit Master title style</a:t>
            </a:r>
            <a:endParaRPr lang="en-US"/>
          </a:p>
        </p:txBody>
      </p:sp>
      <p:sp>
        <p:nvSpPr>
          <p:cNvPr id="1048755" name="Text Placeholder 2"/>
          <p:cNvSpPr>
            <a:spLocks noGrp="1"/>
          </p:cNvSpPr>
          <p:nvPr>
            <p:ph type="body" idx="1"/>
          </p:nvPr>
        </p:nvSpPr>
        <p:spPr>
          <a:xfrm>
            <a:off x="457200" y="1535113"/>
            <a:ext cx="4040188" cy="639762"/>
          </a:xfrm>
        </p:spPr>
        <p:txBody>
          <a:bodyPr anchor="b">
            <a:normAutofit fontScale="95833" lnSpcReduction="2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5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57" name="Text Placeholder 4"/>
          <p:cNvSpPr>
            <a:spLocks noGrp="1"/>
          </p:cNvSpPr>
          <p:nvPr>
            <p:ph type="body" sz="quarter" idx="3"/>
          </p:nvPr>
        </p:nvSpPr>
        <p:spPr>
          <a:xfrm>
            <a:off x="4645025" y="1535113"/>
            <a:ext cx="4041775" cy="639762"/>
          </a:xfrm>
        </p:spPr>
        <p:txBody>
          <a:bodyPr anchor="b">
            <a:normAutofit fontScale="95833" lnSpcReduction="2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5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59" name="Date Placeholder 6"/>
          <p:cNvSpPr>
            <a:spLocks noGrp="1"/>
          </p:cNvSpPr>
          <p:nvPr>
            <p:ph type="dt" sz="half" idx="10"/>
          </p:nvPr>
        </p:nvSpPr>
        <p:spPr/>
        <p:txBody>
          <a:bodyPr/>
          <a:p>
            <a:fld id="{1D8BD707-D9CF-40AE-B4C6-C98DA3205C09}" type="datetimeFigureOut">
              <a:rPr lang="en-US" smtClean="0"/>
              <a:t>8/1/2011</a:t>
            </a:fld>
            <a:endParaRPr lang="en-US"/>
          </a:p>
        </p:txBody>
      </p:sp>
      <p:sp>
        <p:nvSpPr>
          <p:cNvPr id="1048760" name="Footer Placeholder 7"/>
          <p:cNvSpPr>
            <a:spLocks noGrp="1"/>
          </p:cNvSpPr>
          <p:nvPr>
            <p:ph type="ftr" sz="quarter" idx="11"/>
          </p:nvPr>
        </p:nvSpPr>
        <p:spPr/>
        <p:txBody>
          <a:bodyPr/>
          <a:p>
            <a:endParaRPr lang="en-US"/>
          </a:p>
        </p:txBody>
      </p:sp>
      <p:sp>
        <p:nvSpPr>
          <p:cNvPr id="1048761"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0" name=""/>
        <p:cNvGrpSpPr/>
        <p:nvPr/>
      </p:nvGrpSpPr>
      <p:grpSpPr>
        <a:xfrm>
          <a:off x="0" y="0"/>
          <a:ext cx="0" cy="0"/>
          <a:chOff x="0" y="0"/>
          <a:chExt cx="0" cy="0"/>
        </a:xfrm>
      </p:grpSpPr>
      <p:sp>
        <p:nvSpPr>
          <p:cNvPr id="1048718" name="Title 1"/>
          <p:cNvSpPr>
            <a:spLocks noGrp="1"/>
          </p:cNvSpPr>
          <p:nvPr>
            <p:ph type="title"/>
          </p:nvPr>
        </p:nvSpPr>
        <p:spPr/>
        <p:txBody>
          <a:bodyPr/>
          <a:p>
            <a:r>
              <a:rPr lang="en-US" smtClean="0"/>
              <a:t>Click to edit Master title style</a:t>
            </a:r>
            <a:endParaRPr lang="en-US"/>
          </a:p>
        </p:txBody>
      </p:sp>
      <p:sp>
        <p:nvSpPr>
          <p:cNvPr id="1048719" name="Date Placeholder 2"/>
          <p:cNvSpPr>
            <a:spLocks noGrp="1"/>
          </p:cNvSpPr>
          <p:nvPr>
            <p:ph type="dt" sz="half" idx="10"/>
          </p:nvPr>
        </p:nvSpPr>
        <p:spPr/>
        <p:txBody>
          <a:bodyPr/>
          <a:p>
            <a:fld id="{1D8BD707-D9CF-40AE-B4C6-C98DA3205C09}" type="datetimeFigureOut">
              <a:rPr lang="en-US" smtClean="0"/>
              <a:t>8/1/2011</a:t>
            </a:fld>
            <a:endParaRPr lang="en-US"/>
          </a:p>
        </p:txBody>
      </p:sp>
      <p:sp>
        <p:nvSpPr>
          <p:cNvPr id="1048720" name="Footer Placeholder 3"/>
          <p:cNvSpPr>
            <a:spLocks noGrp="1"/>
          </p:cNvSpPr>
          <p:nvPr>
            <p:ph type="ftr" sz="quarter" idx="11"/>
          </p:nvPr>
        </p:nvSpPr>
        <p:spPr/>
        <p:txBody>
          <a:bodyPr/>
          <a:p>
            <a:endParaRPr lang="en-US"/>
          </a:p>
        </p:txBody>
      </p:sp>
      <p:sp>
        <p:nvSpPr>
          <p:cNvPr id="1048721"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4" name=""/>
        <p:cNvGrpSpPr/>
        <p:nvPr/>
      </p:nvGrpSpPr>
      <p:grpSpPr>
        <a:xfrm>
          <a:off x="0" y="0"/>
          <a:ext cx="0" cy="0"/>
          <a:chOff x="0" y="0"/>
          <a:chExt cx="0" cy="0"/>
        </a:xfrm>
      </p:grpSpPr>
      <p:sp>
        <p:nvSpPr>
          <p:cNvPr id="1048581" name="Date Placeholder 1"/>
          <p:cNvSpPr>
            <a:spLocks noGrp="1"/>
          </p:cNvSpPr>
          <p:nvPr>
            <p:ph type="dt" sz="half" idx="10"/>
          </p:nvPr>
        </p:nvSpPr>
        <p:spPr/>
        <p:txBody>
          <a:bodyPr/>
          <a:p>
            <a:fld id="{1D8BD707-D9CF-40AE-B4C6-C98DA3205C09}" type="datetimeFigureOut">
              <a:rPr lang="en-US" smtClean="0"/>
              <a:t>8/1/2011</a:t>
            </a:fld>
            <a:endParaRPr lang="en-US"/>
          </a:p>
        </p:txBody>
      </p:sp>
      <p:sp>
        <p:nvSpPr>
          <p:cNvPr id="1048582" name="Footer Placeholder 2"/>
          <p:cNvSpPr>
            <a:spLocks noGrp="1"/>
          </p:cNvSpPr>
          <p:nvPr>
            <p:ph type="ftr" sz="quarter" idx="11"/>
          </p:nvPr>
        </p:nvSpPr>
        <p:spPr/>
        <p:txBody>
          <a:bodyPr/>
          <a:p>
            <a:endParaRPr lang="en-US"/>
          </a:p>
        </p:txBody>
      </p:sp>
      <p:sp>
        <p:nvSpPr>
          <p:cNvPr id="104858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8" name=""/>
        <p:cNvGrpSpPr/>
        <p:nvPr/>
      </p:nvGrpSpPr>
      <p:grpSpPr>
        <a:xfrm>
          <a:off x="0" y="0"/>
          <a:ext cx="0" cy="0"/>
          <a:chOff x="0" y="0"/>
          <a:chExt cx="0" cy="0"/>
        </a:xfrm>
      </p:grpSpPr>
      <p:sp>
        <p:nvSpPr>
          <p:cNvPr id="1048762"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76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4"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65"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66" name="Footer Placeholder 5"/>
          <p:cNvSpPr>
            <a:spLocks noGrp="1"/>
          </p:cNvSpPr>
          <p:nvPr>
            <p:ph type="ftr" sz="quarter" idx="11"/>
          </p:nvPr>
        </p:nvSpPr>
        <p:spPr/>
        <p:txBody>
          <a:bodyPr/>
          <a:p>
            <a:endParaRPr lang="en-US"/>
          </a:p>
        </p:txBody>
      </p:sp>
      <p:sp>
        <p:nvSpPr>
          <p:cNvPr id="1048767"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3" name=""/>
        <p:cNvGrpSpPr/>
        <p:nvPr/>
      </p:nvGrpSpPr>
      <p:grpSpPr>
        <a:xfrm>
          <a:off x="0" y="0"/>
          <a:ext cx="0" cy="0"/>
          <a:chOff x="0" y="0"/>
          <a:chExt cx="0" cy="0"/>
        </a:xfrm>
      </p:grpSpPr>
      <p:sp>
        <p:nvSpPr>
          <p:cNvPr id="1048732"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733"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734"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35"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36" name="Footer Placeholder 5"/>
          <p:cNvSpPr>
            <a:spLocks noGrp="1"/>
          </p:cNvSpPr>
          <p:nvPr>
            <p:ph type="ftr" sz="quarter" idx="11"/>
          </p:nvPr>
        </p:nvSpPr>
        <p:spPr/>
        <p:txBody>
          <a:bodyPr/>
          <a:p>
            <a:endParaRPr lang="en-US"/>
          </a:p>
        </p:txBody>
      </p:sp>
      <p:sp>
        <p:nvSpPr>
          <p:cNvPr id="1048737"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4" name=""/>
        <p:cNvGrpSpPr/>
        <p:nvPr/>
      </p:nvGrpSpPr>
      <p:grpSpPr>
        <a:xfrm>
          <a:off x="0" y="0"/>
          <a:ext cx="0" cy="0"/>
          <a:chOff x="0" y="0"/>
          <a:chExt cx="0" cy="0"/>
        </a:xfrm>
      </p:grpSpPr>
      <p:sp>
        <p:nvSpPr>
          <p:cNvPr id="1048738" name="Title 1"/>
          <p:cNvSpPr>
            <a:spLocks noGrp="1"/>
          </p:cNvSpPr>
          <p:nvPr>
            <p:ph type="title"/>
          </p:nvPr>
        </p:nvSpPr>
        <p:spPr/>
        <p:txBody>
          <a:bodyPr/>
          <a:p>
            <a:r>
              <a:rPr lang="en-US" smtClean="0"/>
              <a:t>Click to edit Master title style</a:t>
            </a:r>
            <a:endParaRPr lang="en-US"/>
          </a:p>
        </p:txBody>
      </p:sp>
      <p:sp>
        <p:nvSpPr>
          <p:cNvPr id="1048739"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0"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41" name="Footer Placeholder 4"/>
          <p:cNvSpPr>
            <a:spLocks noGrp="1"/>
          </p:cNvSpPr>
          <p:nvPr>
            <p:ph type="ftr" sz="quarter" idx="11"/>
          </p:nvPr>
        </p:nvSpPr>
        <p:spPr/>
        <p:txBody>
          <a:bodyPr/>
          <a:p>
            <a:endParaRPr lang="en-US"/>
          </a:p>
        </p:txBody>
      </p:sp>
      <p:sp>
        <p:nvSpPr>
          <p:cNvPr id="1048742"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1" name=""/>
        <p:cNvGrpSpPr/>
        <p:nvPr/>
      </p:nvGrpSpPr>
      <p:grpSpPr>
        <a:xfrm>
          <a:off x="0" y="0"/>
          <a:ext cx="0" cy="0"/>
          <a:chOff x="0" y="0"/>
          <a:chExt cx="0" cy="0"/>
        </a:xfrm>
      </p:grpSpPr>
      <p:sp>
        <p:nvSpPr>
          <p:cNvPr id="1048722"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723"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24"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25" name="Footer Placeholder 4"/>
          <p:cNvSpPr>
            <a:spLocks noGrp="1"/>
          </p:cNvSpPr>
          <p:nvPr>
            <p:ph type="ftr" sz="quarter" idx="11"/>
          </p:nvPr>
        </p:nvSpPr>
        <p:spPr/>
        <p:txBody>
          <a:bodyPr/>
          <a:p>
            <a:endParaRPr lang="en-US"/>
          </a:p>
        </p:txBody>
      </p:sp>
      <p:sp>
        <p:nvSpPr>
          <p:cNvPr id="1048726"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8/1/2011</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0.jpeg"/><Relationship Id="rId5"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1.jpeg"/><Relationship Id="rId5"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4"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585"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586"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587"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588"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589" name="TextBox 7"/>
          <p:cNvSpPr txBox="1"/>
          <p:nvPr/>
        </p:nvSpPr>
        <p:spPr>
          <a:xfrm rot="0">
            <a:off x="2558657" y="446033"/>
            <a:ext cx="12393931" cy="1615186"/>
          </a:xfrm>
          <a:prstGeom prst="rect"/>
        </p:spPr>
        <p:txBody>
          <a:bodyPr anchor="t" bIns="0" lIns="0" rIns="0" rtlCol="0" tIns="0">
            <a:spAutoFit/>
          </a:bodyPr>
          <a:p>
            <a:pPr algn="ctr">
              <a:lnSpc>
                <a:spcPts val="12718"/>
              </a:lnSpc>
            </a:pPr>
            <a:r>
              <a:rPr sz="9084" lang="en-US">
                <a:solidFill>
                  <a:srgbClr val="050E9B"/>
                </a:solidFill>
                <a:latin typeface="Merriweather Sans"/>
                <a:ea typeface="Merriweather Sans"/>
                <a:cs typeface="Merriweather Sans"/>
                <a:sym typeface="Merriweather Sans"/>
              </a:rPr>
              <a:t>ECE MINI-PROJECT</a:t>
            </a:r>
          </a:p>
        </p:txBody>
      </p:sp>
      <p:sp>
        <p:nvSpPr>
          <p:cNvPr id="1048590" name="TextBox 8"/>
          <p:cNvSpPr txBox="1"/>
          <p:nvPr/>
        </p:nvSpPr>
        <p:spPr>
          <a:xfrm rot="0">
            <a:off x="830230" y="3678419"/>
            <a:ext cx="16942135" cy="738692"/>
          </a:xfrm>
          <a:prstGeom prst="rect"/>
        </p:spPr>
        <p:txBody>
          <a:bodyPr anchor="t" bIns="0" lIns="0" rIns="0" rtlCol="0" tIns="0">
            <a:spAutoFit/>
          </a:bodyPr>
          <a:p>
            <a:pPr algn="ctr">
              <a:lnSpc>
                <a:spcPts val="6009"/>
              </a:lnSpc>
              <a:spcBef>
                <a:spcPct val="0"/>
              </a:spcBef>
            </a:pPr>
            <a:r>
              <a:rPr sz="4292" lang="en-US">
                <a:solidFill>
                  <a:srgbClr val="050E9B"/>
                </a:solidFill>
                <a:latin typeface="Merriweather Sans"/>
                <a:ea typeface="Merriweather Sans"/>
                <a:cs typeface="Merriweather Sans"/>
                <a:sym typeface="Merriweather Sans"/>
              </a:rPr>
              <a:t>PROJECT TITLE: </a:t>
            </a:r>
            <a:r>
              <a:rPr b="1" sz="4292" i="1" lang="en-US">
                <a:solidFill>
                  <a:srgbClr val="050E9B"/>
                </a:solidFill>
                <a:latin typeface="Merriweather Sans Bold Italics"/>
                <a:ea typeface="Merriweather Sans Bold Italics"/>
                <a:cs typeface="Merriweather Sans Bold Italics"/>
                <a:sym typeface="Merriweather Sans Bold Italics"/>
              </a:rPr>
              <a:t>ACCIDENT PREVENTION USING LDR CIRCUIT</a:t>
            </a:r>
          </a:p>
        </p:txBody>
      </p:sp>
      <p:sp>
        <p:nvSpPr>
          <p:cNvPr id="1048591" name="TextBox 9"/>
          <p:cNvSpPr txBox="1"/>
          <p:nvPr/>
        </p:nvSpPr>
        <p:spPr>
          <a:xfrm rot="0">
            <a:off x="9139238" y="4236136"/>
            <a:ext cx="9525" cy="1698625"/>
          </a:xfrm>
          <a:prstGeom prst="rect"/>
        </p:spPr>
        <p:txBody>
          <a:bodyPr anchor="t" bIns="0" lIns="0" rIns="0" rtlCol="0" tIns="0">
            <a:spAutoFit/>
          </a:bodyPr>
          <a:p>
            <a:pPr algn="ctr">
              <a:lnSpc>
                <a:spcPts val="13375"/>
              </a:lnSpc>
              <a:spcBef>
                <a:spcPct val="0"/>
              </a:spcBef>
            </a:pPr>
          </a:p>
        </p:txBody>
      </p:sp>
      <p:sp>
        <p:nvSpPr>
          <p:cNvPr id="1048592" name="TextBox 10"/>
          <p:cNvSpPr txBox="1"/>
          <p:nvPr/>
        </p:nvSpPr>
        <p:spPr>
          <a:xfrm rot="0">
            <a:off x="6209954" y="7023647"/>
            <a:ext cx="4784725" cy="802259"/>
          </a:xfrm>
          <a:prstGeom prst="rect"/>
        </p:spPr>
        <p:txBody>
          <a:bodyPr anchor="t" bIns="0" lIns="0" rIns="0" rtlCol="0" tIns="0">
            <a:spAutoFit/>
          </a:bodyPr>
          <a:p>
            <a:pPr algn="ctr">
              <a:lnSpc>
                <a:spcPts val="6447"/>
              </a:lnSpc>
            </a:pPr>
            <a:r>
              <a:rPr sz="5199" lang="en-US" spc="223">
                <a:solidFill>
                  <a:srgbClr val="050E9B"/>
                </a:solidFill>
                <a:latin typeface="Canva Sans"/>
                <a:ea typeface="Canva Sans"/>
                <a:cs typeface="Canva Sans"/>
                <a:sym typeface="Canva Sans"/>
              </a:rPr>
              <a:t>Presented By:</a:t>
            </a:r>
          </a:p>
        </p:txBody>
      </p:sp>
      <p:sp>
        <p:nvSpPr>
          <p:cNvPr id="1048593" name="TextBox 11"/>
          <p:cNvSpPr txBox="1"/>
          <p:nvPr/>
        </p:nvSpPr>
        <p:spPr>
          <a:xfrm rot="0">
            <a:off x="5510040" y="7903263"/>
            <a:ext cx="7582515" cy="2339340"/>
          </a:xfrm>
          <a:prstGeom prst="rect"/>
        </p:spPr>
        <p:txBody>
          <a:bodyPr anchor="t" bIns="0" lIns="0" rIns="0" rtlCol="0" tIns="0">
            <a:spAutoFit/>
          </a:bodyPr>
          <a:p>
            <a:pPr algn="l">
              <a:lnSpc>
                <a:spcPts val="6140"/>
              </a:lnSpc>
            </a:pPr>
            <a:r>
              <a:rPr b="1" sz="4386" lang="en-US" spc="250">
                <a:solidFill>
                  <a:srgbClr val="0091E3"/>
                </a:solidFill>
                <a:latin typeface="Canva Sans Bold"/>
                <a:ea typeface="Canva Sans Bold"/>
                <a:cs typeface="Canva Sans Bold"/>
                <a:sym typeface="Canva Sans Bold"/>
              </a:rPr>
              <a:t>A.Jayesh (B220128)</a:t>
            </a:r>
          </a:p>
          <a:p>
            <a:pPr algn="l">
              <a:lnSpc>
                <a:spcPts val="6140"/>
              </a:lnSpc>
            </a:pPr>
            <a:r>
              <a:rPr b="1" sz="4386" lang="en-US" spc="250">
                <a:solidFill>
                  <a:srgbClr val="0091E3"/>
                </a:solidFill>
                <a:latin typeface="Canva Sans Bold"/>
                <a:ea typeface="Canva Sans Bold"/>
                <a:cs typeface="Canva Sans Bold"/>
                <a:sym typeface="Canva Sans Bold"/>
              </a:rPr>
              <a:t>K.Nithish (B221384)</a:t>
            </a:r>
          </a:p>
          <a:p>
            <a:pPr algn="l">
              <a:lnSpc>
                <a:spcPts val="6140"/>
              </a:lnSpc>
            </a:pPr>
            <a:r>
              <a:rPr b="1" sz="4386" lang="en-US" spc="250">
                <a:solidFill>
                  <a:srgbClr val="0091E3"/>
                </a:solidFill>
                <a:latin typeface="Canva Sans Bold"/>
                <a:ea typeface="Canva Sans Bold"/>
                <a:cs typeface="Canva Sans Bold"/>
                <a:sym typeface="Canva Sans Bold"/>
              </a:rPr>
              <a:t>E.Nithin   (B221689)</a:t>
            </a:r>
          </a:p>
        </p:txBody>
      </p:sp>
      <p:sp>
        <p:nvSpPr>
          <p:cNvPr id="1048594" name="TextBox 12"/>
          <p:cNvSpPr txBox="1"/>
          <p:nvPr/>
        </p:nvSpPr>
        <p:spPr>
          <a:xfrm rot="0">
            <a:off x="5027454" y="4652327"/>
            <a:ext cx="8233093" cy="924432"/>
          </a:xfrm>
          <a:prstGeom prst="rect"/>
        </p:spPr>
        <p:txBody>
          <a:bodyPr anchor="t" bIns="0" lIns="0" rIns="0" rtlCol="0" tIns="0">
            <a:spAutoFit/>
          </a:bodyPr>
          <a:p>
            <a:pPr algn="ctr">
              <a:lnSpc>
                <a:spcPts val="7279"/>
              </a:lnSpc>
            </a:pPr>
            <a:r>
              <a:rPr b="1" sz="5199" lang="en-US">
                <a:solidFill>
                  <a:srgbClr val="050E9B"/>
                </a:solidFill>
                <a:latin typeface="Canva Sans Bold"/>
                <a:ea typeface="Canva Sans Bold"/>
                <a:cs typeface="Canva Sans Bold"/>
                <a:sym typeface="Canva Sans Bold"/>
              </a:rPr>
              <a:t>under the supervision of :</a:t>
            </a:r>
          </a:p>
        </p:txBody>
      </p:sp>
      <p:sp>
        <p:nvSpPr>
          <p:cNvPr id="1048595" name="TextBox 13"/>
          <p:cNvSpPr txBox="1"/>
          <p:nvPr/>
        </p:nvSpPr>
        <p:spPr>
          <a:xfrm rot="0">
            <a:off x="6324463" y="5793689"/>
            <a:ext cx="4555707" cy="744601"/>
          </a:xfrm>
          <a:prstGeom prst="rect"/>
        </p:spPr>
        <p:txBody>
          <a:bodyPr anchor="t" bIns="0" lIns="0" rIns="0" rtlCol="0" tIns="0">
            <a:spAutoFit/>
          </a:bodyPr>
          <a:p>
            <a:pPr algn="ctr">
              <a:lnSpc>
                <a:spcPts val="5863"/>
              </a:lnSpc>
            </a:pPr>
            <a:r>
              <a:rPr b="1" sz="4187" lang="en-US">
                <a:solidFill>
                  <a:srgbClr val="00BF63"/>
                </a:solidFill>
                <a:latin typeface="Canva Sans Bold"/>
                <a:ea typeface="Canva Sans Bold"/>
                <a:cs typeface="Canva Sans Bold"/>
                <a:sym typeface="Canva Sans Bold"/>
              </a:rPr>
              <a:t>Sravanthi madam</a:t>
            </a:r>
          </a:p>
        </p:txBody>
      </p:sp>
      <p:sp>
        <p:nvSpPr>
          <p:cNvPr id="1048596" name="TextBox 14"/>
          <p:cNvSpPr txBox="1"/>
          <p:nvPr/>
        </p:nvSpPr>
        <p:spPr>
          <a:xfrm rot="0">
            <a:off x="0" y="2413239"/>
            <a:ext cx="17259300" cy="746759"/>
          </a:xfrm>
          <a:prstGeom prst="rect"/>
        </p:spPr>
        <p:txBody>
          <a:bodyPr anchor="t" bIns="0" lIns="0" rIns="0" rtlCol="0" tIns="0">
            <a:spAutoFit/>
          </a:bodyPr>
          <a:p>
            <a:pPr algn="ctr">
              <a:lnSpc>
                <a:spcPts val="5880"/>
              </a:lnSpc>
            </a:pPr>
            <a:r>
              <a:rPr b="1" sz="4200" lang="en-US">
                <a:solidFill>
                  <a:srgbClr val="005BE3"/>
                </a:solidFill>
                <a:latin typeface="Canva Sans Bold"/>
                <a:ea typeface="Canva Sans Bold"/>
                <a:cs typeface="Canva Sans Bold"/>
                <a:sym typeface="Canva Sans Bold"/>
              </a:rPr>
              <a:t>Class : C1                                              Year : E2-S1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3"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04"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05"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06"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07"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08" name="TextBox 7"/>
          <p:cNvSpPr txBox="1"/>
          <p:nvPr/>
        </p:nvSpPr>
        <p:spPr>
          <a:xfrm rot="0">
            <a:off x="3417780" y="705446"/>
            <a:ext cx="11228195" cy="1698625"/>
          </a:xfrm>
          <a:prstGeom prst="rect"/>
        </p:spPr>
        <p:txBody>
          <a:bodyPr anchor="t" bIns="0" lIns="0" rIns="0" rtlCol="0" tIns="0">
            <a:spAutoFit/>
          </a:bodyPr>
          <a:p>
            <a:pPr algn="ctr">
              <a:lnSpc>
                <a:spcPts val="13375"/>
              </a:lnSpc>
            </a:pPr>
            <a:r>
              <a:rPr sz="9554" lang="en-US">
                <a:solidFill>
                  <a:srgbClr val="050E9B"/>
                </a:solidFill>
                <a:latin typeface="Merriweather Sans"/>
                <a:ea typeface="Merriweather Sans"/>
                <a:cs typeface="Merriweather Sans"/>
                <a:sym typeface="Merriweather Sans"/>
              </a:rPr>
              <a:t>INTRODUCTION</a:t>
            </a:r>
          </a:p>
        </p:txBody>
      </p:sp>
      <p:sp>
        <p:nvSpPr>
          <p:cNvPr id="1048609" name="TextBox 8"/>
          <p:cNvSpPr txBox="1"/>
          <p:nvPr/>
        </p:nvSpPr>
        <p:spPr>
          <a:xfrm rot="0">
            <a:off x="3642026" y="2796586"/>
            <a:ext cx="10339250" cy="5628640"/>
          </a:xfrm>
          <a:prstGeom prst="rect"/>
        </p:spPr>
        <p:txBody>
          <a:bodyPr anchor="t" bIns="0" lIns="0" rIns="0" rtlCol="0" tIns="0">
            <a:spAutoFit/>
          </a:bodyPr>
          <a:p>
            <a:pPr algn="l">
              <a:lnSpc>
                <a:spcPts val="4432"/>
              </a:lnSpc>
              <a:spcBef>
                <a:spcPct val="0"/>
              </a:spcBef>
            </a:pPr>
          </a:p>
          <a:p>
            <a:pPr algn="l" indent="-341744" lvl="1" marL="683487">
              <a:lnSpc>
                <a:spcPts val="4432"/>
              </a:lnSpc>
              <a:spcBef>
                <a:spcPct val="0"/>
              </a:spcBef>
              <a:buFont typeface="Arial"/>
              <a:buChar char="•"/>
            </a:pPr>
            <a:r>
              <a:rPr sz="3165" lang="en-US">
                <a:solidFill>
                  <a:srgbClr val="050E9B"/>
                </a:solidFill>
                <a:latin typeface="Monda"/>
                <a:ea typeface="Monda"/>
                <a:cs typeface="Monda"/>
                <a:sym typeface="Monda"/>
              </a:rPr>
              <a:t>This project demonstrates a simple and cost-effective method for vehicle detection using light interruption</a:t>
            </a:r>
          </a:p>
          <a:p>
            <a:pPr algn="l" indent="-341744" lvl="1" marL="683487">
              <a:lnSpc>
                <a:spcPts val="4432"/>
              </a:lnSpc>
              <a:spcBef>
                <a:spcPct val="0"/>
              </a:spcBef>
              <a:buFont typeface="Arial"/>
              <a:buChar char="•"/>
            </a:pPr>
            <a:r>
              <a:rPr sz="3165" lang="en-US">
                <a:solidFill>
                  <a:srgbClr val="050E9B"/>
                </a:solidFill>
                <a:latin typeface="Monda"/>
                <a:ea typeface="Monda"/>
                <a:cs typeface="Monda"/>
                <a:sym typeface="Monda"/>
              </a:rPr>
              <a:t> A laser beam continuously illuminates an LDR placed on the opposite side</a:t>
            </a:r>
          </a:p>
          <a:p>
            <a:pPr algn="l" indent="-341744" lvl="1" marL="683487">
              <a:lnSpc>
                <a:spcPts val="4432"/>
              </a:lnSpc>
              <a:spcBef>
                <a:spcPct val="0"/>
              </a:spcBef>
              <a:buFont typeface="Arial"/>
              <a:buChar char="•"/>
            </a:pPr>
            <a:r>
              <a:rPr sz="3165" lang="en-US">
                <a:solidFill>
                  <a:srgbClr val="050E9B"/>
                </a:solidFill>
                <a:latin typeface="Monda"/>
                <a:ea typeface="Monda"/>
                <a:cs typeface="Monda"/>
                <a:sym typeface="Monda"/>
              </a:rPr>
              <a:t>When a vehicle crosses and blocks the beam, the circuit detects the change in light intensity and activates an LED indicator through a BC547 transistor.</a:t>
            </a:r>
          </a:p>
          <a:p>
            <a:pPr algn="l">
              <a:lnSpc>
                <a:spcPts val="4432"/>
              </a:lnSpc>
              <a:spcBef>
                <a:spcPct val="0"/>
              </a:spcBef>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7" name="Freeform 2"/>
          <p:cNvSpPr/>
          <p:nvPr/>
        </p:nvSpPr>
        <p:spPr>
          <a:xfrm rot="34724" flipH="0" flipV="0">
            <a:off x="-56715" y="-406077"/>
            <a:ext cx="18288000" cy="11471506"/>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txBody>
          <a:bodyPr/>
          <a:p>
            <a:r>
              <a:rPr altLang="en-US" lang="zh-CN"/>
              <a:t>
</a:t>
            </a:r>
            <a:r>
              <a:rPr altLang="en-IN" lang="en-US"/>
              <a:t>I</a:t>
            </a:r>
            <a:r>
              <a:rPr altLang="en-IN" lang="en-US"/>
              <a:t>N</a:t>
            </a:r>
            <a:r>
              <a:rPr altLang="en-IN" lang="en-US"/>
              <a:t>I</a:t>
            </a:r>
            <a:r>
              <a:rPr altLang="en-IN" lang="en-US"/>
              <a:t>T</a:t>
            </a:r>
            <a:r>
              <a:rPr altLang="en-IN" lang="en-US"/>
              <a:t>I</a:t>
            </a:r>
            <a:r>
              <a:rPr altLang="en-IN" lang="en-US"/>
              <a:t>ATION </a:t>
            </a:r>
            <a:endParaRPr altLang="en-US" lang="zh-CN"/>
          </a:p>
        </p:txBody>
      </p:sp>
      <p:sp>
        <p:nvSpPr>
          <p:cNvPr id="1048598"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599"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00"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4"/>
            <a:stretch>
              <a:fillRect l="0" t="0" r="0" b="0"/>
            </a:stretch>
          </a:blipFill>
        </p:spPr>
      </p:sp>
      <p:sp>
        <p:nvSpPr>
          <p:cNvPr id="1048601"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5"/>
            <a:stretch>
              <a:fillRect l="0" t="0" r="0" b="0"/>
            </a:stretch>
          </a:blipFill>
        </p:spPr>
      </p:sp>
      <p:pic>
        <p:nvPicPr>
          <p:cNvPr id="2097152" name=""/>
          <p:cNvPicPr>
            <a:picLocks/>
          </p:cNvPicPr>
          <p:nvPr/>
        </p:nvPicPr>
        <p:blipFill>
          <a:blip xmlns:r="http://schemas.openxmlformats.org/officeDocument/2006/relationships" r:embed="rId6"/>
          <a:stretch>
            <a:fillRect/>
          </a:stretch>
        </p:blipFill>
        <p:spPr>
          <a:xfrm>
            <a:off x="3642025" y="1099488"/>
            <a:ext cx="11180172" cy="9573503"/>
          </a:xfrm>
          <a:prstGeom prst="rect"/>
        </p:spPr>
      </p:pic>
      <p:sp>
        <p:nvSpPr>
          <p:cNvPr id="1048602" name=""/>
          <p:cNvSpPr txBox="1"/>
          <p:nvPr/>
        </p:nvSpPr>
        <p:spPr>
          <a:xfrm>
            <a:off x="6716395" y="-20652"/>
            <a:ext cx="18959209" cy="1120140"/>
          </a:xfrm>
          <a:prstGeom prst="rect"/>
        </p:spPr>
        <p:txBody>
          <a:bodyPr rtlCol="0" wrap="square">
            <a:spAutoFit/>
          </a:bodyPr>
          <a:p>
            <a:r>
              <a:rPr altLang="en-IN" sz="6600" lang="en-US">
                <a:solidFill>
                  <a:srgbClr val="0000FF"/>
                </a:solidFill>
              </a:rPr>
              <a:t>I</a:t>
            </a:r>
            <a:r>
              <a:rPr altLang="en-IN" sz="6600" lang="en-US">
                <a:solidFill>
                  <a:srgbClr val="0000FF"/>
                </a:solidFill>
              </a:rPr>
              <a:t>N</a:t>
            </a:r>
            <a:r>
              <a:rPr altLang="en-IN" sz="6600" lang="en-US">
                <a:solidFill>
                  <a:srgbClr val="0000FF"/>
                </a:solidFill>
              </a:rPr>
              <a:t>I</a:t>
            </a:r>
            <a:r>
              <a:rPr altLang="en-IN" sz="6600" lang="en-US">
                <a:solidFill>
                  <a:srgbClr val="0000FF"/>
                </a:solidFill>
              </a:rPr>
              <a:t>T</a:t>
            </a:r>
            <a:r>
              <a:rPr altLang="en-IN" sz="6600" lang="en-US">
                <a:solidFill>
                  <a:srgbClr val="0000FF"/>
                </a:solidFill>
              </a:rPr>
              <a:t>I</a:t>
            </a:r>
            <a:r>
              <a:rPr altLang="en-IN" sz="6600" lang="en-US">
                <a:solidFill>
                  <a:srgbClr val="0000FF"/>
                </a:solidFill>
              </a:rPr>
              <a:t>ATION </a:t>
            </a:r>
            <a:endParaRPr sz="2800" lang="en-IN">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10"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11"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12"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13"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14"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15" name="TextBox 7"/>
          <p:cNvSpPr txBox="1"/>
          <p:nvPr/>
        </p:nvSpPr>
        <p:spPr>
          <a:xfrm rot="0">
            <a:off x="2963372" y="410390"/>
            <a:ext cx="11228195" cy="1698625"/>
          </a:xfrm>
          <a:prstGeom prst="rect"/>
        </p:spPr>
        <p:txBody>
          <a:bodyPr anchor="t" bIns="0" lIns="0" rIns="0" rtlCol="0" tIns="0">
            <a:spAutoFit/>
          </a:bodyPr>
          <a:p>
            <a:pPr algn="ctr">
              <a:lnSpc>
                <a:spcPts val="13375"/>
              </a:lnSpc>
            </a:pPr>
            <a:r>
              <a:rPr sz="9554" lang="en-US">
                <a:solidFill>
                  <a:srgbClr val="050E9B"/>
                </a:solidFill>
                <a:latin typeface="Merriweather Sans"/>
                <a:ea typeface="Merriweather Sans"/>
                <a:cs typeface="Merriweather Sans"/>
                <a:sym typeface="Merriweather Sans"/>
              </a:rPr>
              <a:t>OBJECTIVES</a:t>
            </a:r>
          </a:p>
        </p:txBody>
      </p:sp>
      <p:sp>
        <p:nvSpPr>
          <p:cNvPr id="1048616" name="TextBox 8"/>
          <p:cNvSpPr txBox="1"/>
          <p:nvPr/>
        </p:nvSpPr>
        <p:spPr>
          <a:xfrm rot="0">
            <a:off x="4161476" y="3627649"/>
            <a:ext cx="11408264" cy="1100690"/>
          </a:xfrm>
          <a:prstGeom prst="rect"/>
        </p:spPr>
        <p:txBody>
          <a:bodyPr anchor="t" bIns="0" lIns="0" rIns="0" rtlCol="0" tIns="0">
            <a:spAutoFit/>
          </a:bodyPr>
          <a:p>
            <a:pPr algn="l">
              <a:lnSpc>
                <a:spcPts val="4432"/>
              </a:lnSpc>
            </a:pPr>
            <a:r>
              <a:rPr sz="3165" lang="en-US">
                <a:solidFill>
                  <a:srgbClr val="050E9B"/>
                </a:solidFill>
                <a:latin typeface="Monda"/>
                <a:ea typeface="Monda"/>
                <a:cs typeface="Monda"/>
                <a:sym typeface="Monda"/>
              </a:rPr>
              <a:t>To design and implement a laser–LDR-based vehicle detection system using a BC547 transistor.</a:t>
            </a:r>
          </a:p>
        </p:txBody>
      </p:sp>
      <p:sp>
        <p:nvSpPr>
          <p:cNvPr id="1048617" name="TextBox 9"/>
          <p:cNvSpPr txBox="1"/>
          <p:nvPr/>
        </p:nvSpPr>
        <p:spPr>
          <a:xfrm rot="0">
            <a:off x="2718260" y="3495232"/>
            <a:ext cx="1265732" cy="1276477"/>
          </a:xfrm>
          <a:prstGeom prst="rect"/>
        </p:spPr>
        <p:txBody>
          <a:bodyPr anchor="t" bIns="0" lIns="0" rIns="0" rtlCol="0" tIns="0">
            <a:spAutoFit/>
          </a:bodyPr>
          <a:p>
            <a:pPr algn="ctr">
              <a:lnSpc>
                <a:spcPts val="10051"/>
              </a:lnSpc>
            </a:pPr>
            <a:r>
              <a:rPr sz="7179" lang="en-US">
                <a:solidFill>
                  <a:srgbClr val="050E9B"/>
                </a:solidFill>
                <a:latin typeface="Merriweather Sans"/>
                <a:ea typeface="Merriweather Sans"/>
                <a:cs typeface="Merriweather Sans"/>
                <a:sym typeface="Merriweather Sans"/>
              </a:rPr>
              <a:t>1.</a:t>
            </a:r>
          </a:p>
        </p:txBody>
      </p:sp>
      <p:sp>
        <p:nvSpPr>
          <p:cNvPr id="1048618" name="TextBox 10"/>
          <p:cNvSpPr txBox="1"/>
          <p:nvPr/>
        </p:nvSpPr>
        <p:spPr>
          <a:xfrm rot="0">
            <a:off x="4161476" y="5306598"/>
            <a:ext cx="11408264" cy="1100690"/>
          </a:xfrm>
          <a:prstGeom prst="rect"/>
        </p:spPr>
        <p:txBody>
          <a:bodyPr anchor="t" bIns="0" lIns="0" rIns="0" rtlCol="0" tIns="0">
            <a:spAutoFit/>
          </a:bodyPr>
          <a:p>
            <a:pPr algn="l">
              <a:lnSpc>
                <a:spcPts val="4432"/>
              </a:lnSpc>
            </a:pPr>
            <a:r>
              <a:rPr sz="3165" lang="en-US">
                <a:solidFill>
                  <a:srgbClr val="050E9B"/>
                </a:solidFill>
                <a:latin typeface="Monda"/>
                <a:ea typeface="Monda"/>
                <a:cs typeface="Monda"/>
                <a:sym typeface="Monda"/>
              </a:rPr>
              <a:t>The system will detect the interruption of a laser beam caused by a passing vehicle.</a:t>
            </a:r>
          </a:p>
        </p:txBody>
      </p:sp>
      <p:sp>
        <p:nvSpPr>
          <p:cNvPr id="1048619" name="TextBox 11"/>
          <p:cNvSpPr txBox="1"/>
          <p:nvPr/>
        </p:nvSpPr>
        <p:spPr>
          <a:xfrm rot="0">
            <a:off x="2718260" y="5379531"/>
            <a:ext cx="1265732" cy="1276476"/>
          </a:xfrm>
          <a:prstGeom prst="rect"/>
        </p:spPr>
        <p:txBody>
          <a:bodyPr anchor="t" bIns="0" lIns="0" rIns="0" rtlCol="0" tIns="0">
            <a:spAutoFit/>
          </a:bodyPr>
          <a:p>
            <a:pPr algn="ctr">
              <a:lnSpc>
                <a:spcPts val="10051"/>
              </a:lnSpc>
            </a:pPr>
            <a:r>
              <a:rPr sz="7179" lang="en-US">
                <a:solidFill>
                  <a:srgbClr val="050E9B"/>
                </a:solidFill>
                <a:latin typeface="Merriweather Sans"/>
                <a:ea typeface="Merriweather Sans"/>
                <a:cs typeface="Merriweather Sans"/>
                <a:sym typeface="Merriweather Sans"/>
              </a:rPr>
              <a:t>2.</a:t>
            </a:r>
          </a:p>
        </p:txBody>
      </p:sp>
      <p:sp>
        <p:nvSpPr>
          <p:cNvPr id="1048620" name="TextBox 12"/>
          <p:cNvSpPr txBox="1"/>
          <p:nvPr/>
        </p:nvSpPr>
        <p:spPr>
          <a:xfrm rot="0">
            <a:off x="3983993" y="7096108"/>
            <a:ext cx="11408264" cy="2814320"/>
          </a:xfrm>
          <a:prstGeom prst="rect"/>
        </p:spPr>
        <p:txBody>
          <a:bodyPr anchor="t" bIns="0" lIns="0" rIns="0" rtlCol="0" tIns="0">
            <a:spAutoFit/>
          </a:bodyPr>
          <a:p>
            <a:pPr algn="l">
              <a:lnSpc>
                <a:spcPts val="4432"/>
              </a:lnSpc>
            </a:pPr>
            <a:r>
              <a:rPr sz="3165" lang="en-US">
                <a:solidFill>
                  <a:srgbClr val="050E9B"/>
                </a:solidFill>
                <a:latin typeface="Monda"/>
                <a:ea typeface="Monda"/>
                <a:cs typeface="Monda"/>
                <a:sym typeface="Monda"/>
              </a:rPr>
              <a:t>It will generate an automatic response by activating an LED indicator when the beam is interrupted.</a:t>
            </a:r>
            <a:r>
              <a:rPr sz="3165" lang="en-US">
                <a:solidFill>
                  <a:srgbClr val="050E9B"/>
                </a:solidFill>
                <a:latin typeface="Monda"/>
                <a:ea typeface="Monda"/>
                <a:cs typeface="Monda"/>
                <a:sym typeface="Monda"/>
              </a:rPr>
              <a:t>The project aims to demonstrate the basic principles of light-controlled switching using simple electronic components.</a:t>
            </a:r>
          </a:p>
          <a:p>
            <a:pPr algn="l">
              <a:lnSpc>
                <a:spcPts val="4432"/>
              </a:lnSpc>
            </a:pPr>
          </a:p>
        </p:txBody>
      </p:sp>
      <p:sp>
        <p:nvSpPr>
          <p:cNvPr id="1048621" name="TextBox 13"/>
          <p:cNvSpPr txBox="1"/>
          <p:nvPr/>
        </p:nvSpPr>
        <p:spPr>
          <a:xfrm rot="0">
            <a:off x="2718260" y="7010383"/>
            <a:ext cx="1265732" cy="1276477"/>
          </a:xfrm>
          <a:prstGeom prst="rect"/>
        </p:spPr>
        <p:txBody>
          <a:bodyPr anchor="t" bIns="0" lIns="0" rIns="0" rtlCol="0" tIns="0">
            <a:spAutoFit/>
          </a:bodyPr>
          <a:p>
            <a:pPr algn="ctr">
              <a:lnSpc>
                <a:spcPts val="10051"/>
              </a:lnSpc>
            </a:pPr>
            <a:r>
              <a:rPr sz="7179" lang="en-US">
                <a:solidFill>
                  <a:srgbClr val="050E9B"/>
                </a:solidFill>
                <a:latin typeface="Merriweather Sans"/>
                <a:ea typeface="Merriweather Sans"/>
                <a:cs typeface="Merriweather Sans"/>
                <a:sym typeface="Merriweather Sans"/>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22"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23"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24"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25"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26"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27" name="TextBox 7"/>
          <p:cNvSpPr txBox="1"/>
          <p:nvPr/>
        </p:nvSpPr>
        <p:spPr>
          <a:xfrm rot="0">
            <a:off x="2196230" y="555761"/>
            <a:ext cx="13314449" cy="1447419"/>
          </a:xfrm>
          <a:prstGeom prst="rect"/>
        </p:spPr>
        <p:txBody>
          <a:bodyPr anchor="t" bIns="0" lIns="0" rIns="0" rtlCol="0" tIns="0">
            <a:spAutoFit/>
          </a:bodyPr>
          <a:p>
            <a:pPr algn="ctr">
              <a:lnSpc>
                <a:spcPts val="11397"/>
              </a:lnSpc>
            </a:pPr>
            <a:r>
              <a:rPr sz="8141" lang="en-US">
                <a:solidFill>
                  <a:srgbClr val="050E9B"/>
                </a:solidFill>
                <a:latin typeface="Merriweather Sans"/>
                <a:ea typeface="Merriweather Sans"/>
                <a:cs typeface="Merriweather Sans"/>
                <a:sym typeface="Merriweather Sans"/>
              </a:rPr>
              <a:t>PROBLEM STATEMENT</a:t>
            </a:r>
          </a:p>
        </p:txBody>
      </p:sp>
      <p:sp>
        <p:nvSpPr>
          <p:cNvPr id="1048628" name="TextBox 8"/>
          <p:cNvSpPr txBox="1"/>
          <p:nvPr/>
        </p:nvSpPr>
        <p:spPr>
          <a:xfrm rot="0">
            <a:off x="2029059" y="3687407"/>
            <a:ext cx="13107535" cy="3863341"/>
          </a:xfrm>
          <a:prstGeom prst="rect"/>
        </p:spPr>
        <p:txBody>
          <a:bodyPr anchor="t" bIns="0" lIns="0" rIns="0" rtlCol="0" tIns="0">
            <a:spAutoFit/>
          </a:bodyPr>
          <a:p>
            <a:pPr algn="l" indent="-390952" lvl="1" marL="781904">
              <a:lnSpc>
                <a:spcPts val="5070"/>
              </a:lnSpc>
              <a:buFont typeface="Arial"/>
              <a:buChar char="•"/>
            </a:pPr>
            <a:r>
              <a:rPr sz="3621" lang="en-US">
                <a:solidFill>
                  <a:srgbClr val="050E9B"/>
                </a:solidFill>
                <a:latin typeface="Monda"/>
                <a:ea typeface="Monda"/>
                <a:cs typeface="Monda"/>
                <a:sym typeface="Monda"/>
              </a:rPr>
              <a:t>In many traffic and security scenarios, there is a need for a simple, reliable, and cost-effective method to detect vehicles or moving objects without physical contact.</a:t>
            </a:r>
          </a:p>
          <a:p>
            <a:pPr algn="l" indent="-390952" lvl="1" marL="781904">
              <a:lnSpc>
                <a:spcPts val="5070"/>
              </a:lnSpc>
              <a:buFont typeface="Arial"/>
              <a:buChar char="•"/>
            </a:pPr>
            <a:r>
              <a:rPr sz="3621" lang="en-US">
                <a:solidFill>
                  <a:srgbClr val="050E9B"/>
                </a:solidFill>
                <a:latin typeface="Monda"/>
                <a:ea typeface="Monda"/>
                <a:cs typeface="Monda"/>
                <a:sym typeface="Monda"/>
              </a:rPr>
              <a:t>Lack of detection can cause collisions at blind turns or  gates.</a:t>
            </a:r>
          </a:p>
          <a:p>
            <a:pPr algn="l">
              <a:lnSpc>
                <a:spcPts val="5070"/>
              </a:lnSpc>
              <a:spcBef>
                <a:spcPct val="0"/>
              </a:spcBef>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29"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30"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31"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32"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33"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34" name="TextBox 7"/>
          <p:cNvSpPr txBox="1"/>
          <p:nvPr/>
        </p:nvSpPr>
        <p:spPr>
          <a:xfrm rot="0">
            <a:off x="2249157" y="629317"/>
            <a:ext cx="13480186" cy="943356"/>
          </a:xfrm>
          <a:prstGeom prst="rect"/>
        </p:spPr>
        <p:txBody>
          <a:bodyPr anchor="t" bIns="0" lIns="0" rIns="0" rtlCol="0" tIns="0">
            <a:spAutoFit/>
          </a:bodyPr>
          <a:p>
            <a:pPr algn="ctr">
              <a:lnSpc>
                <a:spcPts val="7428"/>
              </a:lnSpc>
            </a:pPr>
            <a:r>
              <a:rPr sz="5305" lang="en-US">
                <a:solidFill>
                  <a:srgbClr val="050E9B"/>
                </a:solidFill>
                <a:latin typeface="Merriweather Sans"/>
                <a:ea typeface="Merriweather Sans"/>
                <a:cs typeface="Merriweather Sans"/>
                <a:sym typeface="Merriweather Sans"/>
              </a:rPr>
              <a:t>WORKING CONDITION-1(NO VEHICLE)</a:t>
            </a:r>
          </a:p>
        </p:txBody>
      </p:sp>
      <p:sp>
        <p:nvSpPr>
          <p:cNvPr id="1048635" name="TextBox 8"/>
          <p:cNvSpPr txBox="1"/>
          <p:nvPr/>
        </p:nvSpPr>
        <p:spPr>
          <a:xfrm rot="0">
            <a:off x="2347940" y="2956719"/>
            <a:ext cx="14034258" cy="4476115"/>
          </a:xfrm>
          <a:prstGeom prst="rect"/>
        </p:spPr>
        <p:txBody>
          <a:bodyPr anchor="t" bIns="0" lIns="0" rIns="0" rtlCol="0" tIns="0">
            <a:spAutoFit/>
          </a:bodyPr>
          <a:p>
            <a:pPr algn="l">
              <a:lnSpc>
                <a:spcPts val="5035"/>
              </a:lnSpc>
              <a:spcBef>
                <a:spcPct val="0"/>
              </a:spcBef>
            </a:pPr>
            <a:r>
              <a:rPr sz="3596" lang="en-US">
                <a:solidFill>
                  <a:srgbClr val="050E9B"/>
                </a:solidFill>
                <a:latin typeface="Monda"/>
                <a:ea typeface="Monda"/>
                <a:cs typeface="Monda"/>
                <a:sym typeface="Monda"/>
              </a:rPr>
              <a:t>When the laser light continuously falls on the LDR, its resistance becomes very low, allowing more current to flow through it. As a result, the voltage at the transistor’s base is too low to turn it ON. The BC547 transistor remains in the cutoff region, and no current flows through the collector–emitter path. Consequently, the LED remains OFF, indicating that the road is clear and no vehicle is present.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36"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37"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38"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39"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40"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41" name="TextBox 7"/>
          <p:cNvSpPr txBox="1"/>
          <p:nvPr/>
        </p:nvSpPr>
        <p:spPr>
          <a:xfrm rot="0">
            <a:off x="1761234" y="1202493"/>
            <a:ext cx="14765532" cy="931820"/>
          </a:xfrm>
          <a:prstGeom prst="rect"/>
        </p:spPr>
        <p:txBody>
          <a:bodyPr anchor="t" bIns="0" lIns="0" rIns="0" rtlCol="0" tIns="0">
            <a:spAutoFit/>
          </a:bodyPr>
          <a:p>
            <a:pPr algn="ctr">
              <a:lnSpc>
                <a:spcPts val="7536"/>
              </a:lnSpc>
            </a:pPr>
            <a:r>
              <a:rPr sz="5383" lang="en-US">
                <a:solidFill>
                  <a:srgbClr val="050E9B"/>
                </a:solidFill>
                <a:latin typeface="Merriweather Sans"/>
                <a:ea typeface="Merriweather Sans"/>
                <a:cs typeface="Merriweather Sans"/>
                <a:sym typeface="Merriweather Sans"/>
              </a:rPr>
              <a:t>WORKING CONDITION-2(VEHICLE PASSES)</a:t>
            </a:r>
          </a:p>
        </p:txBody>
      </p:sp>
      <p:sp>
        <p:nvSpPr>
          <p:cNvPr id="1048642" name="TextBox 8"/>
          <p:cNvSpPr txBox="1"/>
          <p:nvPr/>
        </p:nvSpPr>
        <p:spPr>
          <a:xfrm rot="0">
            <a:off x="2347940" y="2956719"/>
            <a:ext cx="14034258" cy="4476115"/>
          </a:xfrm>
          <a:prstGeom prst="rect"/>
        </p:spPr>
        <p:txBody>
          <a:bodyPr anchor="t" bIns="0" lIns="0" rIns="0" rtlCol="0" tIns="0">
            <a:spAutoFit/>
          </a:bodyPr>
          <a:p>
            <a:pPr algn="l">
              <a:lnSpc>
                <a:spcPts val="5035"/>
              </a:lnSpc>
              <a:spcBef>
                <a:spcPct val="0"/>
              </a:spcBef>
            </a:pPr>
            <a:r>
              <a:rPr sz="3596" lang="en-US">
                <a:solidFill>
                  <a:srgbClr val="050E9B"/>
                </a:solidFill>
                <a:latin typeface="Monda"/>
                <a:ea typeface="Monda"/>
                <a:cs typeface="Monda"/>
                <a:sym typeface="Monda"/>
              </a:rPr>
              <a:t>When a vehicle passes between the laser and the LDR, the light beam is blocked, and the LDR is exposed to darkness. Its resistance suddenly increases, which raises the base voltage of the BC547 transistor. This drives the transistor into saturation, allowing current to flow from the collector to the emitter. The LED turns ON, providing a clear visual indication that the laser path is interrupted by a moving vehicle.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43"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44"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45"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46"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47"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48" name="TextBox 7"/>
          <p:cNvSpPr txBox="1"/>
          <p:nvPr/>
        </p:nvSpPr>
        <p:spPr>
          <a:xfrm rot="0">
            <a:off x="3199983" y="601254"/>
            <a:ext cx="10821808" cy="1637157"/>
          </a:xfrm>
          <a:prstGeom prst="rect"/>
        </p:spPr>
        <p:txBody>
          <a:bodyPr anchor="t" bIns="0" lIns="0" rIns="0" rtlCol="0" tIns="0">
            <a:spAutoFit/>
          </a:bodyPr>
          <a:p>
            <a:pPr algn="ctr">
              <a:lnSpc>
                <a:spcPts val="12891"/>
              </a:lnSpc>
            </a:pPr>
            <a:r>
              <a:rPr sz="9208" lang="en-US">
                <a:solidFill>
                  <a:srgbClr val="050E9B"/>
                </a:solidFill>
                <a:latin typeface="Merriweather Sans"/>
                <a:ea typeface="Merriweather Sans"/>
                <a:cs typeface="Merriweather Sans"/>
                <a:sym typeface="Merriweather Sans"/>
              </a:rPr>
              <a:t>COMPONENTS</a:t>
            </a:r>
          </a:p>
        </p:txBody>
      </p:sp>
      <p:sp>
        <p:nvSpPr>
          <p:cNvPr id="1048649" name="TextBox 8"/>
          <p:cNvSpPr txBox="1"/>
          <p:nvPr/>
        </p:nvSpPr>
        <p:spPr>
          <a:xfrm rot="0">
            <a:off x="3199983" y="3137671"/>
            <a:ext cx="14745530" cy="5407153"/>
          </a:xfrm>
          <a:prstGeom prst="rect"/>
        </p:spPr>
        <p:txBody>
          <a:bodyPr anchor="t" bIns="0" lIns="0" rIns="0" rtlCol="0" tIns="0">
            <a:spAutoFit/>
          </a:bodyPr>
          <a:p>
            <a:pPr algn="l" indent="-410435" lvl="1" marL="820870">
              <a:lnSpc>
                <a:spcPts val="5322"/>
              </a:lnSpc>
              <a:buFont typeface="Arial"/>
              <a:buChar char="•"/>
            </a:pPr>
            <a:r>
              <a:rPr sz="3802" lang="en-US">
                <a:solidFill>
                  <a:srgbClr val="050E9B"/>
                </a:solidFill>
                <a:latin typeface="Monda"/>
                <a:ea typeface="Monda"/>
                <a:cs typeface="Monda"/>
                <a:sym typeface="Monda"/>
              </a:rPr>
              <a:t>LDR (1): Light sensor</a:t>
            </a:r>
          </a:p>
          <a:p>
            <a:pPr algn="l" indent="-410435" lvl="1" marL="820870">
              <a:lnSpc>
                <a:spcPts val="5322"/>
              </a:lnSpc>
              <a:buFont typeface="Arial"/>
              <a:buChar char="•"/>
            </a:pPr>
            <a:r>
              <a:rPr sz="3802" lang="en-US">
                <a:solidFill>
                  <a:srgbClr val="050E9B"/>
                </a:solidFill>
                <a:latin typeface="Monda"/>
                <a:ea typeface="Monda"/>
                <a:cs typeface="Monda"/>
                <a:sym typeface="Monda"/>
              </a:rPr>
              <a:t>Laser Pointer (1): Light source</a:t>
            </a:r>
          </a:p>
          <a:p>
            <a:pPr algn="l" indent="-410435" lvl="1" marL="820870">
              <a:lnSpc>
                <a:spcPts val="5322"/>
              </a:lnSpc>
              <a:buFont typeface="Arial"/>
              <a:buChar char="•"/>
            </a:pPr>
            <a:r>
              <a:rPr sz="3802" lang="en-US">
                <a:solidFill>
                  <a:srgbClr val="050E9B"/>
                </a:solidFill>
                <a:latin typeface="Monda"/>
                <a:ea typeface="Monda"/>
                <a:cs typeface="Monda"/>
                <a:sym typeface="Monda"/>
              </a:rPr>
              <a:t>BC547 Transistor (1): Switching device</a:t>
            </a:r>
          </a:p>
          <a:p>
            <a:pPr algn="l" indent="-410435" lvl="1" marL="820870">
              <a:lnSpc>
                <a:spcPts val="5322"/>
              </a:lnSpc>
              <a:buFont typeface="Arial"/>
              <a:buChar char="•"/>
            </a:pPr>
            <a:r>
              <a:rPr sz="3802" lang="en-US">
                <a:solidFill>
                  <a:srgbClr val="050E9B"/>
                </a:solidFill>
                <a:latin typeface="Monda"/>
                <a:ea typeface="Monda"/>
                <a:cs typeface="Monda"/>
                <a:sym typeface="Monda"/>
              </a:rPr>
              <a:t>10kΩ Resistor (2): Used for biasing and voltage divider</a:t>
            </a:r>
          </a:p>
          <a:p>
            <a:pPr algn="l" indent="-410435" lvl="1" marL="820870">
              <a:lnSpc>
                <a:spcPts val="5322"/>
              </a:lnSpc>
              <a:buFont typeface="Arial"/>
              <a:buChar char="•"/>
            </a:pPr>
            <a:r>
              <a:rPr sz="3802" lang="en-US">
                <a:solidFill>
                  <a:srgbClr val="050E9B"/>
                </a:solidFill>
                <a:latin typeface="Monda"/>
                <a:ea typeface="Monda"/>
                <a:cs typeface="Monda"/>
                <a:sym typeface="Monda"/>
              </a:rPr>
              <a:t>470Ω Resistor (1): LED current limiting resistor</a:t>
            </a:r>
          </a:p>
          <a:p>
            <a:pPr algn="l" indent="-410435" lvl="1" marL="820870">
              <a:lnSpc>
                <a:spcPts val="5322"/>
              </a:lnSpc>
              <a:buFont typeface="Arial"/>
              <a:buChar char="•"/>
            </a:pPr>
            <a:r>
              <a:rPr sz="3802" lang="en-US">
                <a:solidFill>
                  <a:srgbClr val="050E9B"/>
                </a:solidFill>
                <a:latin typeface="Monda"/>
                <a:ea typeface="Monda"/>
                <a:cs typeface="Monda"/>
                <a:sym typeface="Monda"/>
              </a:rPr>
              <a:t>LED (1): Output indicator</a:t>
            </a:r>
          </a:p>
          <a:p>
            <a:pPr algn="l" indent="-410435" lvl="1" marL="820870">
              <a:lnSpc>
                <a:spcPts val="5322"/>
              </a:lnSpc>
              <a:buFont typeface="Arial"/>
              <a:buChar char="•"/>
            </a:pPr>
            <a:r>
              <a:rPr sz="3802" lang="en-US">
                <a:solidFill>
                  <a:srgbClr val="050E9B"/>
                </a:solidFill>
                <a:latin typeface="Monda"/>
                <a:ea typeface="Monda"/>
                <a:cs typeface="Monda"/>
                <a:sym typeface="Monda"/>
              </a:rPr>
              <a:t>9V Battery (1): Power supply</a:t>
            </a:r>
          </a:p>
          <a:p>
            <a:pPr algn="l">
              <a:lnSpc>
                <a:spcPts val="5322"/>
              </a:lnSpc>
              <a:spcBef>
                <a:spcPct val="0"/>
              </a:spcBef>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50"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51"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52"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53"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54"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55" name="Freeform 7"/>
          <p:cNvSpPr/>
          <p:nvPr/>
        </p:nvSpPr>
        <p:spPr>
          <a:xfrm rot="0" flipH="0" flipV="0">
            <a:off x="9269633" y="2904887"/>
            <a:ext cx="7590708" cy="5256436"/>
          </a:xfrm>
          <a:custGeom>
            <a:avLst/>
            <a:ahLst/>
            <a:rect l="l" t="t" r="r" b="b"/>
            <a:pathLst>
              <a:path w="7590708" h="5256436">
                <a:moveTo>
                  <a:pt x="0" y="0"/>
                </a:moveTo>
                <a:lnTo>
                  <a:pt x="7590708" y="0"/>
                </a:lnTo>
                <a:lnTo>
                  <a:pt x="7590708" y="5256436"/>
                </a:lnTo>
                <a:lnTo>
                  <a:pt x="0" y="5256436"/>
                </a:lnTo>
                <a:lnTo>
                  <a:pt x="0" y="0"/>
                </a:lnTo>
                <a:close/>
              </a:path>
            </a:pathLst>
          </a:custGeom>
          <a:blipFill>
            <a:blip xmlns:r="http://schemas.openxmlformats.org/officeDocument/2006/relationships" r:embed="rId4"/>
            <a:stretch>
              <a:fillRect l="0" t="0" r="0" b="0"/>
            </a:stretch>
          </a:blipFill>
        </p:spPr>
      </p:sp>
      <p:sp>
        <p:nvSpPr>
          <p:cNvPr id="1048656" name="TextBox 8"/>
          <p:cNvSpPr txBox="1"/>
          <p:nvPr/>
        </p:nvSpPr>
        <p:spPr>
          <a:xfrm rot="0">
            <a:off x="3215864" y="601085"/>
            <a:ext cx="11228195" cy="1698625"/>
          </a:xfrm>
          <a:prstGeom prst="rect"/>
        </p:spPr>
        <p:txBody>
          <a:bodyPr anchor="t" bIns="0" lIns="0" rIns="0" rtlCol="0" tIns="0">
            <a:spAutoFit/>
          </a:bodyPr>
          <a:p>
            <a:pPr algn="ctr">
              <a:lnSpc>
                <a:spcPts val="13375"/>
              </a:lnSpc>
            </a:pPr>
            <a:r>
              <a:rPr sz="9554" lang="en-US">
                <a:solidFill>
                  <a:srgbClr val="050E9B"/>
                </a:solidFill>
                <a:latin typeface="Merriweather Sans"/>
                <a:ea typeface="Merriweather Sans"/>
                <a:cs typeface="Merriweather Sans"/>
                <a:sym typeface="Merriweather Sans"/>
              </a:rPr>
              <a:t>LDR</a:t>
            </a:r>
          </a:p>
        </p:txBody>
      </p:sp>
      <p:sp>
        <p:nvSpPr>
          <p:cNvPr id="1048657" name="TextBox 9"/>
          <p:cNvSpPr txBox="1"/>
          <p:nvPr/>
        </p:nvSpPr>
        <p:spPr>
          <a:xfrm rot="0">
            <a:off x="2123059" y="2857262"/>
            <a:ext cx="7666737" cy="6047232"/>
          </a:xfrm>
          <a:prstGeom prst="rect"/>
        </p:spPr>
        <p:txBody>
          <a:bodyPr anchor="t" bIns="0" lIns="0" rIns="0" rtlCol="0" tIns="0">
            <a:spAutoFit/>
          </a:bodyPr>
          <a:p>
            <a:pPr algn="l" indent="-306002" lvl="1" marL="612004">
              <a:lnSpc>
                <a:spcPts val="3968"/>
              </a:lnSpc>
              <a:buFont typeface="Arial"/>
              <a:buChar char="•"/>
            </a:pPr>
            <a:r>
              <a:rPr sz="2834" lang="en-US">
                <a:solidFill>
                  <a:srgbClr val="050E9B"/>
                </a:solidFill>
                <a:latin typeface="Monda"/>
                <a:ea typeface="Monda"/>
                <a:cs typeface="Monda"/>
                <a:sym typeface="Monda"/>
              </a:rPr>
              <a:t>Function: Acts as a light sensor that changes its resistance based on the intensity of light falling on it.</a:t>
            </a:r>
          </a:p>
          <a:p>
            <a:pPr algn="l" indent="-306002" lvl="1" marL="612004">
              <a:lnSpc>
                <a:spcPts val="3968"/>
              </a:lnSpc>
              <a:buFont typeface="Arial"/>
              <a:buChar char="•"/>
            </a:pPr>
            <a:r>
              <a:rPr sz="2834" lang="en-US">
                <a:solidFill>
                  <a:srgbClr val="050E9B"/>
                </a:solidFill>
                <a:latin typeface="Monda"/>
                <a:ea typeface="Monda"/>
                <a:cs typeface="Monda"/>
                <a:sym typeface="Monda"/>
              </a:rPr>
              <a:t>Working Principle:</a:t>
            </a:r>
          </a:p>
          <a:p>
            <a:pPr algn="l" indent="-306002" lvl="1" marL="612004">
              <a:lnSpc>
                <a:spcPts val="3968"/>
              </a:lnSpc>
              <a:buFont typeface="Arial"/>
              <a:buChar char="•"/>
            </a:pPr>
            <a:r>
              <a:rPr sz="2834" lang="en-US">
                <a:solidFill>
                  <a:srgbClr val="050E9B"/>
                </a:solidFill>
                <a:latin typeface="Monda"/>
                <a:ea typeface="Monda"/>
                <a:cs typeface="Monda"/>
                <a:sym typeface="Monda"/>
              </a:rPr>
              <a:t>High light intensity → Low resistance</a:t>
            </a:r>
          </a:p>
          <a:p>
            <a:pPr algn="l" indent="-306002" lvl="1" marL="612004">
              <a:lnSpc>
                <a:spcPts val="3968"/>
              </a:lnSpc>
              <a:buFont typeface="Arial"/>
              <a:buChar char="•"/>
            </a:pPr>
            <a:r>
              <a:rPr sz="2834" lang="en-US">
                <a:solidFill>
                  <a:srgbClr val="050E9B"/>
                </a:solidFill>
                <a:latin typeface="Monda"/>
                <a:ea typeface="Monda"/>
                <a:cs typeface="Monda"/>
                <a:sym typeface="Monda"/>
              </a:rPr>
              <a:t>Low light intensity (or darkness) → High resistance</a:t>
            </a:r>
          </a:p>
          <a:p>
            <a:pPr algn="l" indent="-306002" lvl="1" marL="612004">
              <a:lnSpc>
                <a:spcPts val="3968"/>
              </a:lnSpc>
              <a:buFont typeface="Arial"/>
              <a:buChar char="•"/>
            </a:pPr>
            <a:r>
              <a:rPr sz="2834" lang="en-US">
                <a:solidFill>
                  <a:srgbClr val="050E9B"/>
                </a:solidFill>
                <a:latin typeface="Monda"/>
                <a:ea typeface="Monda"/>
                <a:cs typeface="Monda"/>
                <a:sym typeface="Monda"/>
              </a:rPr>
              <a:t>Role in Project: Detects the interruption of the laser beam when a vehicle passes, triggering the transistor to switch the LED indicator.</a:t>
            </a:r>
          </a:p>
          <a:p>
            <a:pPr algn="l">
              <a:lnSpc>
                <a:spcPts val="3968"/>
              </a:lnSpc>
              <a:spcBef>
                <a:spcPct val="0"/>
              </a:spcBef>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58"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59"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60"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61"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62"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63" name="Freeform 7"/>
          <p:cNvSpPr/>
          <p:nvPr/>
        </p:nvSpPr>
        <p:spPr>
          <a:xfrm rot="0" flipH="0" flipV="0">
            <a:off x="1928416" y="2540698"/>
            <a:ext cx="13072760" cy="7557689"/>
          </a:xfrm>
          <a:custGeom>
            <a:avLst/>
            <a:ahLst/>
            <a:rect l="l" t="t" r="r" b="b"/>
            <a:pathLst>
              <a:path w="13072760" h="7557689">
                <a:moveTo>
                  <a:pt x="0" y="0"/>
                </a:moveTo>
                <a:lnTo>
                  <a:pt x="13072760" y="0"/>
                </a:lnTo>
                <a:lnTo>
                  <a:pt x="13072760" y="7557689"/>
                </a:lnTo>
                <a:lnTo>
                  <a:pt x="0" y="7557689"/>
                </a:lnTo>
                <a:lnTo>
                  <a:pt x="0" y="0"/>
                </a:lnTo>
                <a:close/>
              </a:path>
            </a:pathLst>
          </a:custGeom>
          <a:blipFill>
            <a:blip xmlns:r="http://schemas.openxmlformats.org/officeDocument/2006/relationships" r:embed="rId4"/>
            <a:stretch>
              <a:fillRect l="0" t="0" r="0" b="0"/>
            </a:stretch>
          </a:blipFill>
        </p:spPr>
      </p:sp>
      <p:sp>
        <p:nvSpPr>
          <p:cNvPr id="1048664" name="TextBox 8"/>
          <p:cNvSpPr txBox="1"/>
          <p:nvPr/>
        </p:nvSpPr>
        <p:spPr>
          <a:xfrm rot="0">
            <a:off x="3754801" y="967433"/>
            <a:ext cx="9755368" cy="1475867"/>
          </a:xfrm>
          <a:prstGeom prst="rect"/>
        </p:spPr>
        <p:txBody>
          <a:bodyPr anchor="t" bIns="0" lIns="0" rIns="0" rtlCol="0" tIns="0">
            <a:spAutoFit/>
          </a:bodyPr>
          <a:p>
            <a:pPr algn="ctr">
              <a:lnSpc>
                <a:spcPts val="11621"/>
              </a:lnSpc>
            </a:pPr>
            <a:r>
              <a:rPr sz="8300" lang="en-US">
                <a:solidFill>
                  <a:srgbClr val="050E9B"/>
                </a:solidFill>
                <a:latin typeface="Merriweather Sans"/>
                <a:ea typeface="Merriweather Sans"/>
                <a:cs typeface="Merriweather Sans"/>
                <a:sym typeface="Merriweather Sans"/>
              </a:rPr>
              <a:t>CIRCUIT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65"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66"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67"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68"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69"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70" name="TextBox 7"/>
          <p:cNvSpPr txBox="1"/>
          <p:nvPr/>
        </p:nvSpPr>
        <p:spPr>
          <a:xfrm rot="0">
            <a:off x="3277661" y="763838"/>
            <a:ext cx="11732677" cy="1418844"/>
          </a:xfrm>
          <a:prstGeom prst="rect"/>
        </p:spPr>
        <p:txBody>
          <a:bodyPr anchor="t" bIns="0" lIns="0" rIns="0" rtlCol="0" tIns="0">
            <a:spAutoFit/>
          </a:bodyPr>
          <a:p>
            <a:pPr algn="ctr">
              <a:lnSpc>
                <a:spcPts val="11172"/>
              </a:lnSpc>
            </a:pPr>
            <a:r>
              <a:rPr sz="7980" lang="en-US">
                <a:solidFill>
                  <a:srgbClr val="050E9B"/>
                </a:solidFill>
                <a:latin typeface="Merriweather Sans"/>
                <a:ea typeface="Merriweather Sans"/>
                <a:cs typeface="Merriweather Sans"/>
                <a:sym typeface="Merriweather Sans"/>
              </a:rPr>
              <a:t>CIRCUIT DESCRIPTION</a:t>
            </a:r>
          </a:p>
        </p:txBody>
      </p:sp>
      <p:sp>
        <p:nvSpPr>
          <p:cNvPr id="1048671" name="TextBox 8"/>
          <p:cNvSpPr txBox="1"/>
          <p:nvPr/>
        </p:nvSpPr>
        <p:spPr>
          <a:xfrm rot="0">
            <a:off x="1946657" y="3099835"/>
            <a:ext cx="11627582" cy="538715"/>
          </a:xfrm>
          <a:prstGeom prst="rect"/>
        </p:spPr>
        <p:txBody>
          <a:bodyPr anchor="t" bIns="0" lIns="0" rIns="0" rtlCol="0" tIns="0">
            <a:spAutoFit/>
          </a:bodyPr>
          <a:p>
            <a:pPr algn="l">
              <a:lnSpc>
                <a:spcPts val="4432"/>
              </a:lnSpc>
              <a:spcBef>
                <a:spcPct val="0"/>
              </a:spcBef>
            </a:pPr>
          </a:p>
        </p:txBody>
      </p:sp>
      <p:sp>
        <p:nvSpPr>
          <p:cNvPr id="1048672" name="TextBox 9"/>
          <p:cNvSpPr txBox="1"/>
          <p:nvPr/>
        </p:nvSpPr>
        <p:spPr>
          <a:xfrm rot="0">
            <a:off x="2925845" y="3080785"/>
            <a:ext cx="12436310" cy="5120640"/>
          </a:xfrm>
          <a:prstGeom prst="rect"/>
        </p:spPr>
        <p:txBody>
          <a:bodyPr anchor="t" bIns="0" lIns="0" rIns="0" rtlCol="0" tIns="0">
            <a:spAutoFit/>
          </a:bodyPr>
          <a:p>
            <a:pPr algn="ctr">
              <a:lnSpc>
                <a:spcPts val="5040"/>
              </a:lnSpc>
              <a:spcBef>
                <a:spcPct val="0"/>
              </a:spcBef>
            </a:pPr>
            <a:r>
              <a:rPr sz="3600" lang="en-US">
                <a:solidFill>
                  <a:srgbClr val="050E9B"/>
                </a:solidFill>
                <a:latin typeface="Merriweather Sans"/>
                <a:ea typeface="Merriweather Sans"/>
                <a:cs typeface="Merriweather Sans"/>
                <a:sym typeface="Merriweather Sans"/>
              </a:rPr>
              <a:t>The circuit consists of an LDR and a 10kΩ resistor forming a voltage divider connected to the base of a BC547 transistor through another 10kΩ resistor. When the laser light falls on the LDR, its resistance remains low, keeping the transistor OFF and the LED OFF. When the beam is interrupted, the LDR’s resistance increases, providing sufficient base voltage to turn the transistor ON, allowing current to flow and lighting the LED.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73"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74"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75"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76"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77"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78" name="TextBox 7"/>
          <p:cNvSpPr txBox="1"/>
          <p:nvPr/>
        </p:nvSpPr>
        <p:spPr>
          <a:xfrm rot="0">
            <a:off x="3683420" y="430227"/>
            <a:ext cx="10921159" cy="1652143"/>
          </a:xfrm>
          <a:prstGeom prst="rect"/>
        </p:spPr>
        <p:txBody>
          <a:bodyPr anchor="t" bIns="0" lIns="0" rIns="0" rtlCol="0" tIns="0">
            <a:spAutoFit/>
          </a:bodyPr>
          <a:p>
            <a:pPr algn="ctr">
              <a:lnSpc>
                <a:spcPts val="13009"/>
              </a:lnSpc>
            </a:pPr>
            <a:r>
              <a:rPr sz="9292" lang="en-US">
                <a:solidFill>
                  <a:srgbClr val="050E9B"/>
                </a:solidFill>
                <a:latin typeface="Merriweather Sans"/>
                <a:ea typeface="Merriweather Sans"/>
                <a:cs typeface="Merriweather Sans"/>
                <a:sym typeface="Merriweather Sans"/>
              </a:rPr>
              <a:t>ADVANTAGES</a:t>
            </a:r>
          </a:p>
        </p:txBody>
      </p:sp>
      <p:sp>
        <p:nvSpPr>
          <p:cNvPr id="1048679" name="TextBox 8"/>
          <p:cNvSpPr txBox="1"/>
          <p:nvPr/>
        </p:nvSpPr>
        <p:spPr>
          <a:xfrm rot="0">
            <a:off x="2669398" y="2910226"/>
            <a:ext cx="13745233" cy="5628639"/>
          </a:xfrm>
          <a:prstGeom prst="rect"/>
        </p:spPr>
        <p:txBody>
          <a:bodyPr anchor="t" bIns="0" lIns="0" rIns="0" rtlCol="0" tIns="0">
            <a:spAutoFit/>
          </a:bodyPr>
          <a:p>
            <a:pPr algn="l" indent="-427205" lvl="1" marL="854409">
              <a:lnSpc>
                <a:spcPts val="5540"/>
              </a:lnSpc>
              <a:buFont typeface="Arial"/>
              <a:buChar char="•"/>
            </a:pPr>
            <a:r>
              <a:rPr sz="3957" lang="en-US">
                <a:solidFill>
                  <a:srgbClr val="050E9B"/>
                </a:solidFill>
                <a:latin typeface="Monda"/>
                <a:ea typeface="Monda"/>
                <a:cs typeface="Monda"/>
                <a:sym typeface="Monda"/>
              </a:rPr>
              <a:t>Simple and affordable: Uses common, low-cost components.</a:t>
            </a:r>
          </a:p>
          <a:p>
            <a:pPr algn="l" indent="-427205" lvl="1" marL="854409">
              <a:lnSpc>
                <a:spcPts val="5540"/>
              </a:lnSpc>
              <a:buFont typeface="Arial"/>
              <a:buChar char="•"/>
            </a:pPr>
            <a:r>
              <a:rPr sz="3957" lang="en-US">
                <a:solidFill>
                  <a:srgbClr val="050E9B"/>
                </a:solidFill>
                <a:latin typeface="Monda"/>
                <a:ea typeface="Monda"/>
                <a:cs typeface="Monda"/>
                <a:sym typeface="Monda"/>
              </a:rPr>
              <a:t>Low power use: Operates efficiently on a 9V battery.</a:t>
            </a:r>
          </a:p>
          <a:p>
            <a:pPr algn="l" indent="-427205" lvl="1" marL="854409">
              <a:lnSpc>
                <a:spcPts val="5540"/>
              </a:lnSpc>
              <a:buFont typeface="Arial"/>
              <a:buChar char="•"/>
            </a:pPr>
            <a:r>
              <a:rPr sz="3957" lang="en-US">
                <a:solidFill>
                  <a:srgbClr val="050E9B"/>
                </a:solidFill>
                <a:latin typeface="Monda"/>
                <a:ea typeface="Monda"/>
                <a:cs typeface="Monda"/>
                <a:sym typeface="Monda"/>
              </a:rPr>
              <a:t>No contact needed: Detects vehicles without physical touch.</a:t>
            </a:r>
          </a:p>
          <a:p>
            <a:pPr algn="l" indent="-427205" lvl="1" marL="854409">
              <a:lnSpc>
                <a:spcPts val="5540"/>
              </a:lnSpc>
              <a:buFont typeface="Arial"/>
              <a:buChar char="•"/>
            </a:pPr>
            <a:r>
              <a:rPr sz="3957" lang="en-US">
                <a:solidFill>
                  <a:srgbClr val="050E9B"/>
                </a:solidFill>
                <a:latin typeface="Monda"/>
                <a:ea typeface="Monda"/>
                <a:cs typeface="Monda"/>
                <a:sym typeface="Monda"/>
              </a:rPr>
              <a:t>Expandable: Can easily be integrated to control relays, buzzers, or alarms.</a:t>
            </a:r>
          </a:p>
          <a:p>
            <a:pPr algn="l">
              <a:lnSpc>
                <a:spcPts val="5540"/>
              </a:lnSpc>
              <a:spcBef>
                <a:spcPct val="0"/>
              </a:spcBef>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80"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81"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82"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83"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84"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85" name="TextBox 7"/>
          <p:cNvSpPr txBox="1"/>
          <p:nvPr/>
        </p:nvSpPr>
        <p:spPr>
          <a:xfrm rot="0">
            <a:off x="4097363" y="581176"/>
            <a:ext cx="9027049" cy="1365631"/>
          </a:xfrm>
          <a:prstGeom prst="rect"/>
        </p:spPr>
        <p:txBody>
          <a:bodyPr anchor="t" bIns="0" lIns="0" rIns="0" rtlCol="0" tIns="0">
            <a:spAutoFit/>
          </a:bodyPr>
          <a:p>
            <a:pPr algn="ctr">
              <a:lnSpc>
                <a:spcPts val="10753"/>
              </a:lnSpc>
            </a:pPr>
            <a:r>
              <a:rPr sz="7681" lang="en-US">
                <a:solidFill>
                  <a:srgbClr val="050E9B"/>
                </a:solidFill>
                <a:latin typeface="Merriweather Sans"/>
                <a:ea typeface="Merriweather Sans"/>
                <a:cs typeface="Merriweather Sans"/>
                <a:sym typeface="Merriweather Sans"/>
              </a:rPr>
              <a:t>APPLICATIONS</a:t>
            </a:r>
          </a:p>
        </p:txBody>
      </p:sp>
      <p:sp>
        <p:nvSpPr>
          <p:cNvPr id="1048686" name="TextBox 8"/>
          <p:cNvSpPr txBox="1"/>
          <p:nvPr/>
        </p:nvSpPr>
        <p:spPr>
          <a:xfrm rot="0">
            <a:off x="2665539" y="2470281"/>
            <a:ext cx="13224556" cy="5741290"/>
          </a:xfrm>
          <a:prstGeom prst="rect"/>
        </p:spPr>
        <p:txBody>
          <a:bodyPr anchor="t" bIns="0" lIns="0" rIns="0" rtlCol="0" tIns="0">
            <a:spAutoFit/>
          </a:bodyPr>
          <a:p>
            <a:pPr algn="l" indent="-387386" lvl="1" marL="774771">
              <a:lnSpc>
                <a:spcPts val="5023"/>
              </a:lnSpc>
              <a:buFont typeface="Arial"/>
              <a:buChar char="•"/>
            </a:pPr>
            <a:r>
              <a:rPr sz="3588" lang="en-US">
                <a:solidFill>
                  <a:srgbClr val="050E9B"/>
                </a:solidFill>
                <a:latin typeface="Monda"/>
                <a:ea typeface="Monda"/>
                <a:cs typeface="Monda"/>
                <a:sym typeface="Monda"/>
              </a:rPr>
              <a:t>Vehicle detection: Detects vehicles at gates or parking areas.</a:t>
            </a:r>
          </a:p>
          <a:p>
            <a:pPr algn="l" indent="-387386" lvl="1" marL="774771">
              <a:lnSpc>
                <a:spcPts val="5023"/>
              </a:lnSpc>
              <a:buFont typeface="Arial"/>
              <a:buChar char="•"/>
            </a:pPr>
            <a:r>
              <a:rPr sz="3588" lang="en-US">
                <a:solidFill>
                  <a:srgbClr val="050E9B"/>
                </a:solidFill>
                <a:latin typeface="Monda"/>
                <a:ea typeface="Monda"/>
                <a:cs typeface="Monda"/>
                <a:sym typeface="Monda"/>
              </a:rPr>
              <a:t>Automatic doors/barriers: Opens or closes automatically when the laser beam is interrupted.</a:t>
            </a:r>
          </a:p>
          <a:p>
            <a:pPr algn="l" indent="-387386" lvl="1" marL="774771">
              <a:lnSpc>
                <a:spcPts val="5023"/>
              </a:lnSpc>
              <a:buFont typeface="Arial"/>
              <a:buChar char="•"/>
            </a:pPr>
            <a:r>
              <a:rPr sz="3588" lang="en-US">
                <a:solidFill>
                  <a:srgbClr val="050E9B"/>
                </a:solidFill>
                <a:latin typeface="Monda"/>
                <a:ea typeface="Monda"/>
                <a:cs typeface="Monda"/>
                <a:sym typeface="Monda"/>
              </a:rPr>
              <a:t>Security systems: Detects intruders or movement in restricted areas.</a:t>
            </a:r>
          </a:p>
          <a:p>
            <a:pPr algn="l" indent="-387386" lvl="1" marL="774771">
              <a:lnSpc>
                <a:spcPts val="5023"/>
              </a:lnSpc>
              <a:buFont typeface="Arial"/>
              <a:buChar char="•"/>
            </a:pPr>
            <a:r>
              <a:rPr sz="3588" lang="en-US">
                <a:solidFill>
                  <a:srgbClr val="050E9B"/>
                </a:solidFill>
                <a:latin typeface="Monda"/>
                <a:ea typeface="Monda"/>
                <a:cs typeface="Monda"/>
                <a:sym typeface="Monda"/>
              </a:rPr>
              <a:t>Traffic automation: Triggers signals when vehicles are detected.</a:t>
            </a:r>
          </a:p>
          <a:p>
            <a:pPr algn="l">
              <a:lnSpc>
                <a:spcPts val="5023"/>
              </a:lnSpc>
            </a:pPr>
          </a:p>
          <a:p>
            <a:pPr algn="l">
              <a:lnSpc>
                <a:spcPts val="5023"/>
              </a:lnSpc>
              <a:spcBef>
                <a:spcPct val="0"/>
              </a:spcBef>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87"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88"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89"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90"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91"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92" name="TextBox 7"/>
          <p:cNvSpPr txBox="1"/>
          <p:nvPr/>
        </p:nvSpPr>
        <p:spPr>
          <a:xfrm rot="0">
            <a:off x="3939561" y="670414"/>
            <a:ext cx="10026581" cy="1516888"/>
          </a:xfrm>
          <a:prstGeom prst="rect"/>
        </p:spPr>
        <p:txBody>
          <a:bodyPr anchor="t" bIns="0" lIns="0" rIns="0" rtlCol="0" tIns="0">
            <a:spAutoFit/>
          </a:bodyPr>
          <a:p>
            <a:pPr algn="ctr">
              <a:lnSpc>
                <a:spcPts val="11944"/>
              </a:lnSpc>
            </a:pPr>
            <a:r>
              <a:rPr sz="8531" lang="en-US">
                <a:solidFill>
                  <a:srgbClr val="050E9B"/>
                </a:solidFill>
                <a:latin typeface="Merriweather Sans"/>
                <a:ea typeface="Merriweather Sans"/>
                <a:cs typeface="Merriweather Sans"/>
                <a:sym typeface="Merriweather Sans"/>
              </a:rPr>
              <a:t>FUTURE SCOPE</a:t>
            </a:r>
          </a:p>
        </p:txBody>
      </p:sp>
      <p:sp>
        <p:nvSpPr>
          <p:cNvPr id="1048693" name="TextBox 8"/>
          <p:cNvSpPr txBox="1"/>
          <p:nvPr/>
        </p:nvSpPr>
        <p:spPr>
          <a:xfrm rot="0">
            <a:off x="2486933" y="2875160"/>
            <a:ext cx="13314134" cy="5580888"/>
          </a:xfrm>
          <a:prstGeom prst="rect"/>
        </p:spPr>
        <p:txBody>
          <a:bodyPr anchor="t" bIns="0" lIns="0" rIns="0" rtlCol="0" tIns="0">
            <a:spAutoFit/>
          </a:bodyPr>
          <a:p>
            <a:pPr algn="l" indent="-423569" lvl="1" marL="847138">
              <a:lnSpc>
                <a:spcPts val="5493"/>
              </a:lnSpc>
              <a:buFont typeface="Arial"/>
              <a:buChar char="•"/>
            </a:pPr>
            <a:r>
              <a:rPr sz="3923" lang="en-US">
                <a:solidFill>
                  <a:srgbClr val="050E9B"/>
                </a:solidFill>
                <a:latin typeface="Monda"/>
                <a:ea typeface="Monda"/>
                <a:cs typeface="Monda"/>
                <a:sym typeface="Monda"/>
              </a:rPr>
              <a:t>This project can be further developed into an advanced vehicle monitoring and automation system. By integrating microcontrollers such as Arduino or Raspberry Pi, it can enable digital counting, data logging, and wireless communication.</a:t>
            </a:r>
          </a:p>
          <a:p>
            <a:pPr algn="l" indent="-423569" lvl="1" marL="847138">
              <a:lnSpc>
                <a:spcPts val="5493"/>
              </a:lnSpc>
              <a:buFont typeface="Arial"/>
              <a:buChar char="•"/>
            </a:pPr>
            <a:r>
              <a:rPr sz="3923" lang="en-US">
                <a:solidFill>
                  <a:srgbClr val="050E9B"/>
                </a:solidFill>
                <a:latin typeface="Monda"/>
                <a:ea typeface="Monda"/>
                <a:cs typeface="Monda"/>
                <a:sym typeface="Monda"/>
              </a:rPr>
              <a:t>it suitable for smart parking, traffic control, and modern security applications.</a:t>
            </a:r>
          </a:p>
          <a:p>
            <a:pPr algn="l">
              <a:lnSpc>
                <a:spcPts val="5493"/>
              </a:lnSpc>
              <a:spcBef>
                <a:spcPct val="0"/>
              </a:spcBef>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94"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695"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696"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697"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698"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699" name="TextBox 7"/>
          <p:cNvSpPr txBox="1"/>
          <p:nvPr/>
        </p:nvSpPr>
        <p:spPr>
          <a:xfrm rot="0">
            <a:off x="3164309" y="1411708"/>
            <a:ext cx="11228195" cy="1698625"/>
          </a:xfrm>
          <a:prstGeom prst="rect"/>
        </p:spPr>
        <p:txBody>
          <a:bodyPr anchor="t" bIns="0" lIns="0" rIns="0" rtlCol="0" tIns="0">
            <a:spAutoFit/>
          </a:bodyPr>
          <a:p>
            <a:pPr algn="ctr">
              <a:lnSpc>
                <a:spcPts val="13375"/>
              </a:lnSpc>
            </a:pPr>
            <a:r>
              <a:rPr sz="9554" lang="en-US">
                <a:solidFill>
                  <a:srgbClr val="050E9B"/>
                </a:solidFill>
                <a:latin typeface="Merriweather Sans"/>
                <a:ea typeface="Merriweather Sans"/>
                <a:cs typeface="Merriweather Sans"/>
                <a:sym typeface="Merriweather Sans"/>
              </a:rPr>
              <a:t>CONCLUSION</a:t>
            </a:r>
          </a:p>
        </p:txBody>
      </p:sp>
      <p:sp>
        <p:nvSpPr>
          <p:cNvPr id="1048700" name="TextBox 8"/>
          <p:cNvSpPr txBox="1"/>
          <p:nvPr/>
        </p:nvSpPr>
        <p:spPr>
          <a:xfrm rot="0">
            <a:off x="3013401" y="3151498"/>
            <a:ext cx="12261197" cy="4573015"/>
          </a:xfrm>
          <a:prstGeom prst="rect"/>
        </p:spPr>
        <p:txBody>
          <a:bodyPr anchor="t" bIns="0" lIns="0" rIns="0" rtlCol="0" tIns="0">
            <a:spAutoFit/>
          </a:bodyPr>
          <a:p>
            <a:pPr algn="l">
              <a:lnSpc>
                <a:spcPts val="5144"/>
              </a:lnSpc>
              <a:spcBef>
                <a:spcPct val="0"/>
              </a:spcBef>
            </a:pPr>
          </a:p>
          <a:p>
            <a:pPr algn="l">
              <a:lnSpc>
                <a:spcPts val="5144"/>
              </a:lnSpc>
              <a:spcBef>
                <a:spcPct val="0"/>
              </a:spcBef>
            </a:pPr>
            <a:r>
              <a:rPr sz="3674" lang="en-US">
                <a:solidFill>
                  <a:srgbClr val="050E9B"/>
                </a:solidFill>
                <a:latin typeface="Monda"/>
                <a:ea typeface="Monda"/>
                <a:cs typeface="Monda"/>
                <a:sym typeface="Monda"/>
              </a:rPr>
              <a:t>This project shows how a light-based sensor can detect objects using a laser and LDR. It’s reliable, easy to build, and useful for automation and security systems. The setup helps understand how light intensity controls a transistor and can be developed into more advanced systems.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701" name="Freeform 2"/>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1"/>
            <a:stretch>
              <a:fillRect l="0" t="0" r="0" b="0"/>
            </a:stretch>
          </a:blipFill>
        </p:spPr>
      </p:sp>
      <p:sp>
        <p:nvSpPr>
          <p:cNvPr id="1048702" name="Freeform 3"/>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1"/>
            <a:stretch>
              <a:fillRect l="0" t="0" r="0" b="0"/>
            </a:stretch>
          </a:blipFill>
        </p:spPr>
      </p:sp>
      <p:sp>
        <p:nvSpPr>
          <p:cNvPr id="1048703" name="Freeform 4"/>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2"/>
            <a:stretch>
              <a:fillRect l="0" t="0" r="0" b="0"/>
            </a:stretch>
          </a:blipFill>
        </p:spPr>
      </p:sp>
      <p:sp>
        <p:nvSpPr>
          <p:cNvPr id="1048704" name="Freeform 5"/>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2"/>
            <a:stretch>
              <a:fillRect l="0" t="0" r="0" b="0"/>
            </a:stretch>
          </a:blipFill>
        </p:spPr>
      </p:sp>
      <p:sp>
        <p:nvSpPr>
          <p:cNvPr id="1048705" name="TextBox 6"/>
          <p:cNvSpPr txBox="1"/>
          <p:nvPr/>
        </p:nvSpPr>
        <p:spPr>
          <a:xfrm rot="0">
            <a:off x="2772410" y="923925"/>
            <a:ext cx="12454896" cy="943356"/>
          </a:xfrm>
          <a:prstGeom prst="rect"/>
        </p:spPr>
        <p:txBody>
          <a:bodyPr anchor="t" bIns="0" lIns="0" rIns="0" rtlCol="0" tIns="0">
            <a:spAutoFit/>
          </a:bodyPr>
          <a:p>
            <a:pPr algn="ctr">
              <a:lnSpc>
                <a:spcPts val="7428"/>
              </a:lnSpc>
            </a:pPr>
            <a:r>
              <a:rPr sz="5306" lang="en-US">
                <a:solidFill>
                  <a:srgbClr val="050E9B"/>
                </a:solidFill>
                <a:latin typeface="Merriweather Sans"/>
                <a:ea typeface="Merriweather Sans"/>
                <a:cs typeface="Merriweather Sans"/>
                <a:sym typeface="Merriweather Sans"/>
              </a:rPr>
              <a:t>REFERENCES/ACKNOWLEDGEMENTS</a:t>
            </a:r>
          </a:p>
        </p:txBody>
      </p:sp>
      <p:sp>
        <p:nvSpPr>
          <p:cNvPr id="1048706" name="TextBox 7"/>
          <p:cNvSpPr txBox="1"/>
          <p:nvPr/>
        </p:nvSpPr>
        <p:spPr>
          <a:xfrm rot="0">
            <a:off x="3013401" y="2661006"/>
            <a:ext cx="12715941" cy="4065269"/>
          </a:xfrm>
          <a:prstGeom prst="rect"/>
        </p:spPr>
        <p:txBody>
          <a:bodyPr anchor="t" bIns="0" lIns="0" rIns="0" rtlCol="0" tIns="0">
            <a:spAutoFit/>
          </a:bodyPr>
          <a:p>
            <a:pPr algn="l">
              <a:lnSpc>
                <a:spcPts val="5335"/>
              </a:lnSpc>
              <a:spcBef>
                <a:spcPct val="0"/>
              </a:spcBef>
            </a:pPr>
          </a:p>
          <a:p>
            <a:pPr algn="l">
              <a:lnSpc>
                <a:spcPts val="5335"/>
              </a:lnSpc>
              <a:spcBef>
                <a:spcPct val="0"/>
              </a:spcBef>
            </a:pPr>
            <a:r>
              <a:rPr sz="3810" lang="en-US">
                <a:solidFill>
                  <a:srgbClr val="050E9B"/>
                </a:solidFill>
                <a:latin typeface="Monda"/>
                <a:ea typeface="Monda"/>
                <a:cs typeface="Monda"/>
                <a:sym typeface="Monda"/>
              </a:rPr>
              <a:t>Sources: Online electronics tutorials and datasheets.</a:t>
            </a:r>
          </a:p>
          <a:p>
            <a:pPr algn="l">
              <a:lnSpc>
                <a:spcPts val="5335"/>
              </a:lnSpc>
              <a:spcBef>
                <a:spcPct val="0"/>
              </a:spcBef>
            </a:pPr>
          </a:p>
          <a:p>
            <a:pPr algn="l">
              <a:lnSpc>
                <a:spcPts val="5335"/>
              </a:lnSpc>
              <a:spcBef>
                <a:spcPct val="0"/>
              </a:spcBef>
            </a:pPr>
            <a:r>
              <a:rPr sz="3810" lang="en-US">
                <a:solidFill>
                  <a:srgbClr val="050E9B"/>
                </a:solidFill>
                <a:latin typeface="Monda"/>
                <a:ea typeface="Monda"/>
                <a:cs typeface="Monda"/>
                <a:sym typeface="Monda"/>
              </a:rPr>
              <a:t>Guidance: Faculty support and technical advice.</a:t>
            </a:r>
          </a:p>
          <a:p>
            <a:pPr algn="l">
              <a:lnSpc>
                <a:spcPts val="5335"/>
              </a:lnSpc>
              <a:spcBef>
                <a:spcPct val="0"/>
              </a:spcBef>
            </a:pPr>
          </a:p>
          <a:p>
            <a:pPr algn="l">
              <a:lnSpc>
                <a:spcPts val="5335"/>
              </a:lnSpc>
              <a:spcBef>
                <a:spcPct val="0"/>
              </a:spcBef>
            </a:pPr>
            <a:r>
              <a:rPr sz="3810" lang="en-US">
                <a:solidFill>
                  <a:srgbClr val="050E9B"/>
                </a:solidFill>
                <a:latin typeface="Monda"/>
                <a:ea typeface="Monda"/>
                <a:cs typeface="Monda"/>
                <a:sym typeface="Monda"/>
              </a:rPr>
              <a:t>Testing: Verified through personal experimentation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707" name="Freeform 2"/>
          <p:cNvSpPr/>
          <p:nvPr/>
        </p:nvSpPr>
        <p:spPr>
          <a:xfrm rot="0" flipH="0" flipV="0">
            <a:off x="0" y="0"/>
            <a:ext cx="18288000" cy="10287000"/>
          </a:xfrm>
          <a:custGeom>
            <a:avLst/>
            <a:ahLst/>
            <a:rect l="l" t="t" r="r" b="b"/>
            <a:pathLst>
              <a:path w="18288000" h="10287000">
                <a:moveTo>
                  <a:pt x="0" y="0"/>
                </a:moveTo>
                <a:lnTo>
                  <a:pt x="18288000" y="0"/>
                </a:lnTo>
                <a:lnTo>
                  <a:pt x="18288000" y="10287000"/>
                </a:lnTo>
                <a:lnTo>
                  <a:pt x="0" y="10287000"/>
                </a:lnTo>
                <a:lnTo>
                  <a:pt x="0" y="0"/>
                </a:lnTo>
                <a:close/>
              </a:path>
            </a:pathLst>
          </a:custGeom>
          <a:blipFill>
            <a:blip xmlns:r="http://schemas.openxmlformats.org/officeDocument/2006/relationships" r:embed="rId1"/>
            <a:stretch>
              <a:fillRect l="-2204" t="0" r="-2204" b="0"/>
            </a:stretch>
          </a:blipFill>
        </p:spPr>
      </p:sp>
      <p:sp>
        <p:nvSpPr>
          <p:cNvPr id="1048708" name="Freeform 3"/>
          <p:cNvSpPr/>
          <p:nvPr/>
        </p:nvSpPr>
        <p:spPr>
          <a:xfrm rot="0" flipH="0" flipV="0">
            <a:off x="-1584626" y="-740607"/>
            <a:ext cx="5226651" cy="4114800"/>
          </a:xfrm>
          <a:custGeom>
            <a:avLst/>
            <a:ahLst/>
            <a:rect l="l" t="t" r="r" b="b"/>
            <a:pathLst>
              <a:path w="5226651" h="4114800">
                <a:moveTo>
                  <a:pt x="0" y="0"/>
                </a:moveTo>
                <a:lnTo>
                  <a:pt x="5226652" y="0"/>
                </a:lnTo>
                <a:lnTo>
                  <a:pt x="5226652" y="4114800"/>
                </a:lnTo>
                <a:lnTo>
                  <a:pt x="0" y="4114800"/>
                </a:lnTo>
                <a:lnTo>
                  <a:pt x="0" y="0"/>
                </a:lnTo>
                <a:close/>
              </a:path>
            </a:pathLst>
          </a:custGeom>
          <a:blipFill>
            <a:blip xmlns:r="http://schemas.openxmlformats.org/officeDocument/2006/relationships" r:embed="rId2"/>
            <a:stretch>
              <a:fillRect l="0" t="0" r="0" b="0"/>
            </a:stretch>
          </a:blipFill>
        </p:spPr>
      </p:sp>
      <p:sp>
        <p:nvSpPr>
          <p:cNvPr id="1048709" name="Freeform 4"/>
          <p:cNvSpPr/>
          <p:nvPr/>
        </p:nvSpPr>
        <p:spPr>
          <a:xfrm rot="0" flipH="1" flipV="1">
            <a:off x="14645974" y="7042697"/>
            <a:ext cx="5226651" cy="4114800"/>
          </a:xfrm>
          <a:custGeom>
            <a:avLst/>
            <a:ahLst/>
            <a:rect l="l" t="t" r="r" b="b"/>
            <a:pathLst>
              <a:path w="5226651" h="4114800">
                <a:moveTo>
                  <a:pt x="5226652" y="4114800"/>
                </a:moveTo>
                <a:lnTo>
                  <a:pt x="0" y="4114800"/>
                </a:lnTo>
                <a:lnTo>
                  <a:pt x="0" y="0"/>
                </a:lnTo>
                <a:lnTo>
                  <a:pt x="5226652" y="0"/>
                </a:lnTo>
                <a:lnTo>
                  <a:pt x="5226652" y="4114800"/>
                </a:lnTo>
                <a:close/>
              </a:path>
            </a:pathLst>
          </a:custGeom>
          <a:blipFill>
            <a:blip xmlns:r="http://schemas.openxmlformats.org/officeDocument/2006/relationships" r:embed="rId2"/>
            <a:stretch>
              <a:fillRect l="0" t="0" r="0" b="0"/>
            </a:stretch>
          </a:blipFill>
        </p:spPr>
      </p:sp>
      <p:sp>
        <p:nvSpPr>
          <p:cNvPr id="1048710" name="Freeform 5"/>
          <p:cNvSpPr/>
          <p:nvPr/>
        </p:nvSpPr>
        <p:spPr>
          <a:xfrm rot="0" flipH="0" flipV="0">
            <a:off x="15729343" y="-740607"/>
            <a:ext cx="3059915" cy="4114800"/>
          </a:xfrm>
          <a:custGeom>
            <a:avLst/>
            <a:ahLst/>
            <a:rect l="l" t="t" r="r" b="b"/>
            <a:pathLst>
              <a:path w="3059915" h="4114800">
                <a:moveTo>
                  <a:pt x="0" y="0"/>
                </a:moveTo>
                <a:lnTo>
                  <a:pt x="3059914" y="0"/>
                </a:lnTo>
                <a:lnTo>
                  <a:pt x="3059914" y="4114800"/>
                </a:lnTo>
                <a:lnTo>
                  <a:pt x="0" y="4114800"/>
                </a:lnTo>
                <a:lnTo>
                  <a:pt x="0" y="0"/>
                </a:lnTo>
                <a:close/>
              </a:path>
            </a:pathLst>
          </a:custGeom>
          <a:blipFill>
            <a:blip xmlns:r="http://schemas.openxmlformats.org/officeDocument/2006/relationships" r:embed="rId3"/>
            <a:stretch>
              <a:fillRect l="0" t="0" r="0" b="0"/>
            </a:stretch>
          </a:blipFill>
        </p:spPr>
      </p:sp>
      <p:sp>
        <p:nvSpPr>
          <p:cNvPr id="1048711" name="Freeform 6"/>
          <p:cNvSpPr/>
          <p:nvPr/>
        </p:nvSpPr>
        <p:spPr>
          <a:xfrm rot="0" flipH="1" flipV="1">
            <a:off x="-501257" y="7042697"/>
            <a:ext cx="3059915" cy="4114800"/>
          </a:xfrm>
          <a:custGeom>
            <a:avLst/>
            <a:ahLst/>
            <a:rect l="l" t="t" r="r" b="b"/>
            <a:pathLst>
              <a:path w="3059915" h="4114800">
                <a:moveTo>
                  <a:pt x="3059914" y="4114800"/>
                </a:moveTo>
                <a:lnTo>
                  <a:pt x="0" y="4114800"/>
                </a:lnTo>
                <a:lnTo>
                  <a:pt x="0" y="0"/>
                </a:lnTo>
                <a:lnTo>
                  <a:pt x="3059914" y="0"/>
                </a:lnTo>
                <a:lnTo>
                  <a:pt x="3059914" y="4114800"/>
                </a:lnTo>
                <a:close/>
              </a:path>
            </a:pathLst>
          </a:custGeom>
          <a:blipFill>
            <a:blip xmlns:r="http://schemas.openxmlformats.org/officeDocument/2006/relationships" r:embed="rId3"/>
            <a:stretch>
              <a:fillRect l="0" t="0" r="0" b="0"/>
            </a:stretch>
          </a:blipFill>
        </p:spPr>
      </p:sp>
      <p:sp>
        <p:nvSpPr>
          <p:cNvPr id="1048712" name="TextBox 7"/>
          <p:cNvSpPr txBox="1"/>
          <p:nvPr/>
        </p:nvSpPr>
        <p:spPr>
          <a:xfrm rot="0">
            <a:off x="1637766" y="3824543"/>
            <a:ext cx="14595024" cy="2208022"/>
          </a:xfrm>
          <a:prstGeom prst="rect"/>
        </p:spPr>
        <p:txBody>
          <a:bodyPr anchor="t" bIns="0" lIns="0" rIns="0" rtlCol="0" tIns="0">
            <a:spAutoFit/>
          </a:bodyPr>
          <a:p>
            <a:pPr algn="ctr">
              <a:lnSpc>
                <a:spcPts val="17386"/>
              </a:lnSpc>
            </a:pPr>
            <a:r>
              <a:rPr sz="12418" lang="en-US">
                <a:solidFill>
                  <a:srgbClr val="050E9B"/>
                </a:solidFill>
                <a:latin typeface="Merriweather Sans"/>
                <a:ea typeface="Merriweather Sans"/>
                <a:cs typeface="Merriweather Sans"/>
                <a:sym typeface="Merriweather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ECE MINI-PROJECT</dc:title>
  <dc:creator>moto g85 5G</dc:creator>
  <dcterms:created xsi:type="dcterms:W3CDTF">2006-08-14T15:00:00Z</dcterms:created>
  <dcterms:modified xsi:type="dcterms:W3CDTF">2025-10-25T08:21:49Z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48182d4a55ea4bd8873d71cd678d9af3</vt:lpwstr>
  </property>
</Properties>
</file>